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Today I am presenting CRIME X, an academic police command-center intelligence and decision-support system tailored specifically for crime analytics across India.</a:t>
            </a:r>
          </a:p>
          <a:p/>
          <a:p>
            <a:r>
              <a:t>CRIME X brings together historical National Crime Records Bureau (NCRB) data, real GIS boundary mapping across 36 states and 594 districts, machine learning crime estimation, computer vision fire safety monitoring, operational case and alert management, and a grounded AI assistant.</a:t>
            </a:r>
          </a:p>
          <a:p/>
          <a:p>
            <a:r>
              <a:t>In this presentation, I will walk you through the problem statement, system architecture, module capabilities, technical implementation, and empirical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Law enforcement analysts and decision-makers face a critical challenge: raw crime data published by NCRB is rich but static, highly unstructured across tables, and lacks intuitive GIS context.</a:t>
            </a:r>
          </a:p>
          <a:p/>
          <a:p>
            <a:r>
              <a:t>CRIME X solves this by consolidating raw crime stats, administrative GIS shapefiles, ML predictors, computer vision models, and operational case tools into a single unified command center.</a:t>
            </a:r>
          </a:p>
          <a:p/>
          <a:p>
            <a:r>
              <a:t>Crucially, CRIME X adheres to high academic integrity—we strictly avoid synthetic data fabrication, state disclaimers prominently, and ensure our AI engine never hallucinates.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software architecture of CRIME X. The system strictly adheres to clean architectural principles.</a:t>
            </a:r>
          </a:p>
          <a:p/>
          <a:p>
            <a:r>
              <a:t>At the top is the Streamlit UI layer styled with a custom high-contrast dark command-center aesthetic.</a:t>
            </a:r>
          </a:p>
          <a:p/>
          <a:p>
            <a:r>
              <a:t>Below the UI is the Service Orchestration layer (CrimeXService), which delegates tasks to specialized domain engines: GIS pipelines, ML predictors, YOLO visual detectors, and SQLAlchemy repository calls.</a:t>
            </a:r>
          </a:p>
          <a:p/>
          <a:p>
            <a:r>
              <a:t>Everything persists in a lightweight, robust SQLite database using SQLAlchemy 2.0 ORM models.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provenance and spatial accuracy are essential for any police intelligence software.</a:t>
            </a:r>
          </a:p>
          <a:p/>
          <a:p>
            <a:r>
              <a:t>All crime data in CRIME X is grounded in official National Crime Records Bureau (NCRB) publications.</a:t>
            </a:r>
          </a:p>
          <a:p/>
          <a:p>
            <a:r>
              <a:t>On the GIS side, we implemented a custom Name Normalization Engine (src/gis/name_normalizer.py) that bridges state and district naming discrepancies between NCRB tables and DataMeet/GADM GeoJSON maps. We achieved 100% state boundary matching and mapped over 400 district polygons cleanly.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Modules 1 and 2 serve as the primary analytics hub of CRIME X.</a:t>
            </a:r>
          </a:p>
          <a:p/>
          <a:p>
            <a:r>
              <a:t>The Operations Dashboard provides command-level executive situational awareness with real-time KPI totals, system diagnostics, and active alerts.</a:t>
            </a:r>
          </a:p>
          <a:p/>
          <a:p>
            <a:r>
              <a:t>The Crime Intelligence module lets analysts perform deep exploratory analysis—ranking states and districts, filtering by IPC crime categories, and examining state crime rates per 100k population.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is our Geographic Crime Intelligence map. Built using Folium and GeoPandas, it renders interactive choropleth maps of India.</a:t>
            </a:r>
          </a:p>
          <a:p/>
          <a:p>
            <a:r>
              <a:t>We utilize quantile color scaling so that extreme outliers do not skew the visual distribution.</a:t>
            </a:r>
          </a:p>
          <a:p/>
          <a:p>
            <a:r>
              <a:t>We also enforce strict GIS auditability: specialized police jurisdictions like Railway Police don't have standard administrative boundary shapefiles, so instead of fabricating fake points, CRIME X transparently logs them in a diagnostic audit file surfaced in the UI.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incorporates supervised Machine Learning for crime trend estimation.</a:t>
            </a:r>
          </a:p>
          <a:p/>
          <a:p>
            <a:r>
              <a:t>We implemented a Ridge Regression model (src/ml/train.py) that predicts estimated annual crime counts based on district historical volumes and crime categories.</a:t>
            </a:r>
          </a:p>
          <a:p/>
          <a:p>
            <a:r>
              <a:t>Importantly, we uphold academic rigor: parametric confidence intervals are explicitly flagged as unavailable because 3 annual observations cannot yield statistically valid parametric confidence intervals. Disclaimers are prominently displayed in the UI.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Cybercrime is one of the fastest-growing threat vectors in modern law enforcement.</a:t>
            </a:r>
          </a:p>
          <a:p/>
          <a:p>
            <a:r>
              <a:t>Module 5 provides dedicated Cybercrime Intelligence grounded in NCRB 2022 District Table 1.9.</a:t>
            </a:r>
          </a:p>
          <a:p/>
          <a:p>
            <a:r>
              <a:t>It categorizes digital offences—such as online financial fraud, identity theft, cyber blackmail, and system hacking—allowing cyber cell officers to pinpoint high-risk regions and allocate specialized digital forensic resources.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extends CRIME X into Deep Learning computer vision for situational awareness.</a:t>
            </a:r>
          </a:p>
          <a:p/>
          <a:p>
            <a:r>
              <a:t>Using Ultralytics YOLO11n (crime_x_fire_detector_v2.pt), the module analyzes image feeds to detect visual fire hazards and logs detection coordinates to our SQLite database.</a:t>
            </a:r>
          </a:p>
          <a:p/>
          <a:p>
            <a:r>
              <a:t>We clearly specify the model scope: it is trained on visual fire only (not smoke), and serves as an experimental academic prototype rather than certified safety equipment.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Modules 7 and 8 manage operational workflows for police officers and station commanders.</a:t>
            </a:r>
          </a:p>
          <a:p/>
          <a:p>
            <a:r>
              <a:t>The Cases &amp; Investigation module provides end-to-end lifecycle management: creating case files, managing officer assignments, logging evidence, and maintaining timeline event audit trails.</a:t>
            </a:r>
          </a:p>
          <a:p/>
          <a:p>
            <a:r>
              <a:t>The Alert Center handles operational dispatch with 4 severity levels (INFO, WARNING, HIGH, CRITICAL) and full read/resolution tracking.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is our AI Assistant. In critical law enforcement environments, generative LLM hallucinations are unacceptable.</a:t>
            </a:r>
          </a:p>
          <a:p/>
          <a:p>
            <a:r>
              <a:t>We built a deterministic, grounded AI routing engine (src/services/ai_service.py) that resolves natural language queries directly against SQLite data.</a:t>
            </a:r>
          </a:p>
          <a:p/>
          <a:p>
            <a:r>
              <a:t>It supports both English and practical Hinglish queries—like 'India me sabse zyada crime kis state me hai?'—and if data is absent, it transparently states so without making up facts.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SQLite 3 database schema implemented via SQLAlchemy 2.0 ORM (src/database/models.py).</a:t>
            </a:r>
          </a:p>
          <a:p/>
          <a:p>
            <a:r>
              <a:t>The relational schema contains 8 core tables cleanly normalized: administrative states &amp; districts, crime &amp; cybercrime records, ML prediction history, fire detection audit logs, investigation cases with evidence timelines, and operational alerts.</a:t>
            </a:r>
          </a:p>
          <a:p/>
          <a:p>
            <a:r>
              <a:t>We also enforce composite unique constraints to guarantee idempotent data seeding.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Software quality and diagnostic transparency are key pillars of CRIME X.</a:t>
            </a:r>
          </a:p>
          <a:p/>
          <a:p>
            <a:r>
              <a:t>We maintain a comprehensive Pytest regression test suite covering all services, database repository operations, name normalization logic, and ML predictors.</a:t>
            </a:r>
          </a:p>
          <a:p/>
          <a:p>
            <a:r>
              <a:t>Furthermore, Module 10 (System Settings) provides live runtime health diagnostics directly in the UI, displaying database integrity, model weight status, and GIS shapefile coverage.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CRIME X demonstrates how modern open-source software, GIS mapping, machine learning, and computer vision can be combined into a robust police command center for India.</a:t>
            </a:r>
          </a:p>
          <a:p/>
          <a:p>
            <a:r>
              <a:t>In the future, we plan to integrate live CCTNS data feeds, implement deep learning time-series models like DeepAR, and scale computer vision to live CCTV streams.</a:t>
            </a:r>
          </a:p>
          <a:p/>
          <a:p>
            <a:r>
              <a:t>Thank you for your time and attention!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97280"/>
            <a:ext cx="10362895" cy="466344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463040"/>
            <a:ext cx="9601200" cy="1371600"/>
          </a:xfrm>
          <a:prstGeom prst="rect">
            <a:avLst/>
          </a:prstGeom>
          <a:noFill/>
        </p:spPr>
        <p:txBody>
          <a:bodyPr wrap="square">
            <a:spAutoFit/>
          </a:bodyPr>
          <a:lstStyle/>
          <a:p>
            <a:pPr>
              <a:defRPr sz="5400" b="1">
                <a:solidFill>
                  <a:srgbClr val="F8FAFC"/>
                </a:solidFill>
                <a:latin typeface="Calibri"/>
              </a:defRPr>
            </a:pPr>
            <a:r>
              <a:t>CRIME X</a:t>
            </a:r>
          </a:p>
          <a:p>
            <a:pPr>
              <a:spcBef>
                <a:spcPts val="1000"/>
              </a:spcBef>
              <a:defRPr sz="2200" b="1">
                <a:solidFill>
                  <a:srgbClr val="38BDF8"/>
                </a:solidFill>
                <a:latin typeface="Calibri"/>
              </a:defRPr>
            </a:pPr>
            <a:r>
              <a:t>India-Focused Police Crime Intelligence &amp; Decision-Support System</a:t>
            </a:r>
          </a:p>
          <a:p>
            <a:pPr>
              <a:spcBef>
                <a:spcPts val="1500"/>
              </a:spcBef>
              <a:defRPr sz="1400">
                <a:solidFill>
                  <a:srgbClr val="94A3B8"/>
                </a:solidFill>
                <a:latin typeface="Calibri"/>
              </a:defRPr>
            </a:pPr>
            <a:r>
              <a:t>An end-to-end academic command center integrating NCRB historical analytics, real GIS mapping, supervised crime prediction, computer vision fire safety detection, case management &amp; grounded AI.</a:t>
            </a:r>
          </a:p>
        </p:txBody>
      </p:sp>
      <p:sp>
        <p:nvSpPr>
          <p:cNvPr id="6" name="Rounded Rectangle 5"/>
          <p:cNvSpPr/>
          <p:nvPr/>
        </p:nvSpPr>
        <p:spPr>
          <a:xfrm>
            <a:off x="1280160" y="4297680"/>
            <a:ext cx="2194560" cy="10058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343400"/>
            <a:ext cx="2194560" cy="914400"/>
          </a:xfrm>
          <a:prstGeom prst="rect">
            <a:avLst/>
          </a:prstGeom>
          <a:noFill/>
        </p:spPr>
        <p:txBody>
          <a:bodyPr wrap="square">
            <a:spAutoFit/>
          </a:bodyPr>
          <a:lstStyle/>
          <a:p>
            <a:pPr algn="ctr">
              <a:defRPr sz="1000" b="1">
                <a:solidFill>
                  <a:srgbClr val="F59E0B"/>
                </a:solidFill>
                <a:latin typeface="Calibri"/>
              </a:defRPr>
            </a:pPr>
            <a:r>
              <a:t>DATA ENGINE</a:t>
            </a:r>
          </a:p>
          <a:p>
            <a:pPr algn="ctr">
              <a:spcBef>
                <a:spcPts val="400"/>
              </a:spcBef>
              <a:defRPr sz="1200" b="1">
                <a:solidFill>
                  <a:srgbClr val="F8FAFC"/>
                </a:solidFill>
                <a:latin typeface="Calibri"/>
              </a:defRPr>
            </a:pPr>
            <a:r>
              <a:t>NCRB 2022 Grounded</a:t>
            </a:r>
          </a:p>
        </p:txBody>
      </p:sp>
      <p:sp>
        <p:nvSpPr>
          <p:cNvPr id="8" name="Rounded Rectangle 7"/>
          <p:cNvSpPr/>
          <p:nvPr/>
        </p:nvSpPr>
        <p:spPr>
          <a:xfrm>
            <a:off x="3611879" y="4297680"/>
            <a:ext cx="2194560" cy="10058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79" y="4343400"/>
            <a:ext cx="2194560" cy="914400"/>
          </a:xfrm>
          <a:prstGeom prst="rect">
            <a:avLst/>
          </a:prstGeom>
          <a:noFill/>
        </p:spPr>
        <p:txBody>
          <a:bodyPr wrap="square">
            <a:spAutoFit/>
          </a:bodyPr>
          <a:lstStyle/>
          <a:p>
            <a:pPr algn="ctr">
              <a:defRPr sz="1000" b="1">
                <a:solidFill>
                  <a:srgbClr val="F59E0B"/>
                </a:solidFill>
                <a:latin typeface="Calibri"/>
              </a:defRPr>
            </a:pPr>
            <a:r>
              <a:t>GIS MAPPING</a:t>
            </a:r>
          </a:p>
          <a:p>
            <a:pPr algn="ctr">
              <a:spcBef>
                <a:spcPts val="400"/>
              </a:spcBef>
              <a:defRPr sz="1200" b="1">
                <a:solidFill>
                  <a:srgbClr val="F8FAFC"/>
                </a:solidFill>
                <a:latin typeface="Calibri"/>
              </a:defRPr>
            </a:pPr>
            <a:r>
              <a:t>36 States &amp; 594 Districts</a:t>
            </a:r>
          </a:p>
        </p:txBody>
      </p:sp>
      <p:sp>
        <p:nvSpPr>
          <p:cNvPr id="10" name="Rounded Rectangle 9"/>
          <p:cNvSpPr/>
          <p:nvPr/>
        </p:nvSpPr>
        <p:spPr>
          <a:xfrm>
            <a:off x="5943600" y="4297680"/>
            <a:ext cx="2194560" cy="10058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0" y="4343400"/>
            <a:ext cx="2194560" cy="914400"/>
          </a:xfrm>
          <a:prstGeom prst="rect">
            <a:avLst/>
          </a:prstGeom>
          <a:noFill/>
        </p:spPr>
        <p:txBody>
          <a:bodyPr wrap="square">
            <a:spAutoFit/>
          </a:bodyPr>
          <a:lstStyle/>
          <a:p>
            <a:pPr algn="ctr">
              <a:defRPr sz="1000" b="1">
                <a:solidFill>
                  <a:srgbClr val="F59E0B"/>
                </a:solidFill>
                <a:latin typeface="Calibri"/>
              </a:defRPr>
            </a:pPr>
            <a:r>
              <a:t>AI / DL VISION</a:t>
            </a:r>
          </a:p>
          <a:p>
            <a:pPr algn="ctr">
              <a:spcBef>
                <a:spcPts val="400"/>
              </a:spcBef>
              <a:defRPr sz="1200" b="1">
                <a:solidFill>
                  <a:srgbClr val="F8FAFC"/>
                </a:solidFill>
                <a:latin typeface="Calibri"/>
              </a:defRPr>
            </a:pPr>
            <a:r>
              <a:t>Custom YOLO11n Detector</a:t>
            </a:r>
          </a:p>
        </p:txBody>
      </p:sp>
      <p:sp>
        <p:nvSpPr>
          <p:cNvPr id="12" name="Rounded Rectangle 11"/>
          <p:cNvSpPr/>
          <p:nvPr/>
        </p:nvSpPr>
        <p:spPr>
          <a:xfrm>
            <a:off x="8275319" y="4297680"/>
            <a:ext cx="2194560" cy="10058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4343400"/>
            <a:ext cx="2194560" cy="914400"/>
          </a:xfrm>
          <a:prstGeom prst="rect">
            <a:avLst/>
          </a:prstGeom>
          <a:noFill/>
        </p:spPr>
        <p:txBody>
          <a:bodyPr wrap="square">
            <a:spAutoFit/>
          </a:bodyPr>
          <a:lstStyle/>
          <a:p>
            <a:pPr algn="ctr">
              <a:defRPr sz="1000" b="1">
                <a:solidFill>
                  <a:srgbClr val="F59E0B"/>
                </a:solidFill>
                <a:latin typeface="Calibri"/>
              </a:defRPr>
            </a:pPr>
            <a:r>
              <a:t>STACK</a:t>
            </a:r>
          </a:p>
          <a:p>
            <a:pPr algn="ctr">
              <a:spcBef>
                <a:spcPts val="400"/>
              </a:spcBef>
              <a:defRPr sz="1200" b="1">
                <a:solidFill>
                  <a:srgbClr val="F8FAFC"/>
                </a:solidFill>
                <a:latin typeface="Calibri"/>
              </a:defRPr>
            </a:pPr>
            <a:r>
              <a:t>Streamlit, Python, SQLite, ML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Executive Summary &amp; Problem Statement</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3328416" cy="47548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2962656" cy="457200"/>
          </a:xfrm>
          <a:prstGeom prst="rect">
            <a:avLst/>
          </a:prstGeom>
          <a:noFill/>
        </p:spPr>
        <p:txBody>
          <a:bodyPr wrap="square">
            <a:spAutoFit/>
          </a:bodyPr>
          <a:lstStyle/>
          <a:p>
            <a:pPr>
              <a:defRPr sz="1600" b="1">
                <a:solidFill>
                  <a:srgbClr val="38BDF8"/>
                </a:solidFill>
                <a:latin typeface="Calibri"/>
              </a:defRPr>
            </a:pPr>
            <a:r>
              <a:t>The Problem Challenge</a:t>
            </a:r>
          </a:p>
        </p:txBody>
      </p:sp>
      <p:sp>
        <p:nvSpPr>
          <p:cNvPr id="8" name="TextBox 7"/>
          <p:cNvSpPr txBox="1"/>
          <p:nvPr/>
        </p:nvSpPr>
        <p:spPr>
          <a:xfrm>
            <a:off x="868680" y="2103120"/>
            <a:ext cx="3054096" cy="4023360"/>
          </a:xfrm>
          <a:prstGeom prst="rect">
            <a:avLst/>
          </a:prstGeom>
          <a:noFill/>
        </p:spPr>
        <p:txBody>
          <a:bodyPr wrap="square">
            <a:spAutoFit/>
          </a:bodyPr>
          <a:lstStyle/>
          <a:p>
            <a:pPr>
              <a:spcAft>
                <a:spcPts val="1200"/>
              </a:spcAft>
            </a:pPr>
            <a:r>
              <a:rPr b="1" sz="1300">
                <a:solidFill>
                  <a:srgbClr val="F8FAFC"/>
                </a:solidFill>
              </a:rPr>
              <a:t>• Fragmented Data Silos: </a:t>
            </a:r>
            <a:r>
              <a:rPr sz="1200">
                <a:solidFill>
                  <a:srgbClr val="94A3B8"/>
                </a:solidFill>
              </a:rPr>
              <a:t>Law enforcement agencies face disparate, unintegrated annual crime reports, making spatial-temporal analysis tedious.</a:t>
            </a:r>
          </a:p>
          <a:p>
            <a:pPr>
              <a:spcAft>
                <a:spcPts val="1200"/>
              </a:spcAft>
            </a:pPr>
            <a:r>
              <a:rPr b="1" sz="1300">
                <a:solidFill>
                  <a:srgbClr val="F8FAFC"/>
                </a:solidFill>
              </a:rPr>
              <a:t>• Lack of Visual GIS Context: </a:t>
            </a:r>
            <a:r>
              <a:rPr sz="1200">
                <a:solidFill>
                  <a:srgbClr val="94A3B8"/>
                </a:solidFill>
              </a:rPr>
              <a:t>Tabular NCRB data lacks interactive geospatial boundary maps for district-level threat assessment.</a:t>
            </a:r>
          </a:p>
          <a:p>
            <a:pPr>
              <a:spcAft>
                <a:spcPts val="1200"/>
              </a:spcAft>
            </a:pPr>
            <a:r>
              <a:rPr b="1" sz="1300">
                <a:solidFill>
                  <a:srgbClr val="F8FAFC"/>
                </a:solidFill>
              </a:rPr>
              <a:t>• Absence of Predictive Support: </a:t>
            </a:r>
            <a:r>
              <a:rPr sz="1200">
                <a:solidFill>
                  <a:srgbClr val="94A3B8"/>
                </a:solidFill>
              </a:rPr>
              <a:t>Traditional systems lack accessible machine-learning decision support to benchmark and anticipate regional crime trends.</a:t>
            </a:r>
          </a:p>
          <a:p>
            <a:pPr>
              <a:spcAft>
                <a:spcPts val="1200"/>
              </a:spcAft>
            </a:pPr>
            <a:r>
              <a:rPr b="1" sz="1300">
                <a:solidFill>
                  <a:srgbClr val="F8FAFC"/>
                </a:solidFill>
              </a:rPr>
              <a:t>• Siloed Incident Response: </a:t>
            </a:r>
            <a:r>
              <a:rPr sz="1200">
                <a:solidFill>
                  <a:srgbClr val="94A3B8"/>
                </a:solidFill>
              </a:rPr>
              <a:t>Case management, alert dispatch, and visual hazards (e.g. fire hazards) operate in disconnected tools.</a:t>
            </a:r>
          </a:p>
        </p:txBody>
      </p:sp>
      <p:sp>
        <p:nvSpPr>
          <p:cNvPr id="9" name="Rounded Rectangle 8"/>
          <p:cNvSpPr/>
          <p:nvPr/>
        </p:nvSpPr>
        <p:spPr>
          <a:xfrm>
            <a:off x="4425696" y="1554480"/>
            <a:ext cx="3328416"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691640"/>
            <a:ext cx="2962656" cy="457200"/>
          </a:xfrm>
          <a:prstGeom prst="rect">
            <a:avLst/>
          </a:prstGeom>
          <a:noFill/>
        </p:spPr>
        <p:txBody>
          <a:bodyPr wrap="square">
            <a:spAutoFit/>
          </a:bodyPr>
          <a:lstStyle/>
          <a:p>
            <a:pPr>
              <a:defRPr sz="1600" b="1">
                <a:solidFill>
                  <a:srgbClr val="38BDF8"/>
                </a:solidFill>
                <a:latin typeface="Calibri"/>
              </a:defRPr>
            </a:pPr>
            <a:r>
              <a:t>The CRIME X Solution</a:t>
            </a:r>
          </a:p>
        </p:txBody>
      </p:sp>
      <p:sp>
        <p:nvSpPr>
          <p:cNvPr id="11" name="TextBox 10"/>
          <p:cNvSpPr txBox="1"/>
          <p:nvPr/>
        </p:nvSpPr>
        <p:spPr>
          <a:xfrm>
            <a:off x="4562856" y="2103120"/>
            <a:ext cx="3054096" cy="4023360"/>
          </a:xfrm>
          <a:prstGeom prst="rect">
            <a:avLst/>
          </a:prstGeom>
          <a:noFill/>
        </p:spPr>
        <p:txBody>
          <a:bodyPr wrap="square">
            <a:spAutoFit/>
          </a:bodyPr>
          <a:lstStyle/>
          <a:p>
            <a:pPr>
              <a:spcAft>
                <a:spcPts val="1200"/>
              </a:spcAft>
            </a:pPr>
            <a:r>
              <a:rPr b="1" sz="1300">
                <a:solidFill>
                  <a:srgbClr val="F8FAFC"/>
                </a:solidFill>
              </a:rPr>
              <a:t>• Unified Command Center: </a:t>
            </a:r>
            <a:r>
              <a:rPr sz="1200">
                <a:solidFill>
                  <a:srgbClr val="94A3B8"/>
                </a:solidFill>
              </a:rPr>
              <a:t>A 10-module Streamlit interface providing real-time situational awareness and analytics.</a:t>
            </a:r>
          </a:p>
          <a:p>
            <a:pPr>
              <a:spcAft>
                <a:spcPts val="1200"/>
              </a:spcAft>
            </a:pPr>
            <a:r>
              <a:rPr b="1" sz="1300">
                <a:solidFill>
                  <a:srgbClr val="F8FAFC"/>
                </a:solidFill>
              </a:rPr>
              <a:t>• Authentic Indian GIS Mapping: </a:t>
            </a:r>
            <a:r>
              <a:rPr sz="1200">
                <a:solidFill>
                  <a:srgbClr val="94A3B8"/>
                </a:solidFill>
              </a:rPr>
              <a:t>Folium choropleths with 100% matched state boundaries and 594 verified district boundaries.</a:t>
            </a:r>
          </a:p>
          <a:p>
            <a:pPr>
              <a:spcAft>
                <a:spcPts val="1200"/>
              </a:spcAft>
            </a:pPr>
            <a:r>
              <a:rPr b="1" sz="1300">
                <a:solidFill>
                  <a:srgbClr val="F8FAFC"/>
                </a:solidFill>
              </a:rPr>
              <a:t>• Supervised ML &amp; DL Models: </a:t>
            </a:r>
            <a:r>
              <a:rPr sz="1200">
                <a:solidFill>
                  <a:srgbClr val="94A3B8"/>
                </a:solidFill>
              </a:rPr>
              <a:t>Ridge regression annual crime estimator + YOLO11n object detector for visual fire hazard identification.</a:t>
            </a:r>
          </a:p>
          <a:p>
            <a:pPr>
              <a:spcAft>
                <a:spcPts val="1200"/>
              </a:spcAft>
            </a:pPr>
            <a:r>
              <a:rPr b="1" sz="1300">
                <a:solidFill>
                  <a:srgbClr val="F8FAFC"/>
                </a:solidFill>
              </a:rPr>
              <a:t>• Grounded AI &amp; Case Lifecycles: </a:t>
            </a:r>
            <a:r>
              <a:rPr sz="1200">
                <a:solidFill>
                  <a:srgbClr val="94A3B8"/>
                </a:solidFill>
              </a:rPr>
              <a:t>Bilingual Hinglish AI assistant + full investigation audit trails and alert triage.</a:t>
            </a:r>
          </a:p>
        </p:txBody>
      </p:sp>
      <p:sp>
        <p:nvSpPr>
          <p:cNvPr id="12" name="Rounded Rectangle 11"/>
          <p:cNvSpPr/>
          <p:nvPr/>
        </p:nvSpPr>
        <p:spPr>
          <a:xfrm>
            <a:off x="8119872" y="1554480"/>
            <a:ext cx="3328416"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1691640"/>
            <a:ext cx="2962656" cy="457200"/>
          </a:xfrm>
          <a:prstGeom prst="rect">
            <a:avLst/>
          </a:prstGeom>
          <a:noFill/>
        </p:spPr>
        <p:txBody>
          <a:bodyPr wrap="square">
            <a:spAutoFit/>
          </a:bodyPr>
          <a:lstStyle/>
          <a:p>
            <a:pPr>
              <a:defRPr sz="1600" b="1">
                <a:solidFill>
                  <a:srgbClr val="38BDF8"/>
                </a:solidFill>
                <a:latin typeface="Calibri"/>
              </a:defRPr>
            </a:pPr>
            <a:r>
              <a:t>Academic Integrity &amp; Scope</a:t>
            </a:r>
          </a:p>
        </p:txBody>
      </p:sp>
      <p:sp>
        <p:nvSpPr>
          <p:cNvPr id="14" name="TextBox 13"/>
          <p:cNvSpPr txBox="1"/>
          <p:nvPr/>
        </p:nvSpPr>
        <p:spPr>
          <a:xfrm>
            <a:off x="8257032" y="2103120"/>
            <a:ext cx="3054096" cy="4023360"/>
          </a:xfrm>
          <a:prstGeom prst="rect">
            <a:avLst/>
          </a:prstGeom>
          <a:noFill/>
        </p:spPr>
        <p:txBody>
          <a:bodyPr wrap="square">
            <a:spAutoFit/>
          </a:bodyPr>
          <a:lstStyle/>
          <a:p>
            <a:pPr>
              <a:spcAft>
                <a:spcPts val="1200"/>
              </a:spcAft>
            </a:pPr>
            <a:r>
              <a:rPr b="1" sz="1300">
                <a:solidFill>
                  <a:srgbClr val="F8FAFC"/>
                </a:solidFill>
              </a:rPr>
              <a:t>• 100% Indian Domain Focus: </a:t>
            </a:r>
            <a:r>
              <a:rPr sz="1200">
                <a:solidFill>
                  <a:srgbClr val="94A3B8"/>
                </a:solidFill>
              </a:rPr>
              <a:t>Tailored strictly to Indian Penal Code (IPC), IT Act offences, and NCRB administrative structures.</a:t>
            </a:r>
          </a:p>
          <a:p>
            <a:pPr>
              <a:spcAft>
                <a:spcPts val="1200"/>
              </a:spcAft>
            </a:pPr>
            <a:r>
              <a:rPr b="1" sz="1300">
                <a:solidFill>
                  <a:srgbClr val="F8FAFC"/>
                </a:solidFill>
              </a:rPr>
              <a:t>• Zero Coordinate Fabrication: </a:t>
            </a:r>
            <a:r>
              <a:rPr sz="1200">
                <a:solidFill>
                  <a:srgbClr val="94A3B8"/>
                </a:solidFill>
              </a:rPr>
              <a:t>100% authentic DataMeet and GADM boundary shapefiles without synthetic geometry.</a:t>
            </a:r>
          </a:p>
          <a:p>
            <a:pPr>
              <a:spcAft>
                <a:spcPts val="1200"/>
              </a:spcAft>
            </a:pPr>
            <a:r>
              <a:rPr b="1" sz="1300">
                <a:solidFill>
                  <a:srgbClr val="F8FAFC"/>
                </a:solidFill>
              </a:rPr>
              <a:t>• Rigorous Disclaimers: </a:t>
            </a:r>
            <a:r>
              <a:rPr sz="1200">
                <a:solidFill>
                  <a:srgbClr val="94A3B8"/>
                </a:solidFill>
              </a:rPr>
              <a:t>Exploratory decision-support baseline only; non-parametric confidence limits explicitly flagged.</a:t>
            </a:r>
          </a:p>
          <a:p>
            <a:pPr>
              <a:spcAft>
                <a:spcPts val="1200"/>
              </a:spcAft>
            </a:pPr>
            <a:r>
              <a:rPr b="1" sz="1300">
                <a:solidFill>
                  <a:srgbClr val="F8FAFC"/>
                </a:solidFill>
              </a:rPr>
              <a:t>• Deterministic AI Safety: </a:t>
            </a:r>
            <a:r>
              <a:rPr sz="1200">
                <a:solidFill>
                  <a:srgbClr val="94A3B8"/>
                </a:solidFill>
              </a:rPr>
              <a:t>Zero-hallucination chatbot returning strict data-absent notices for ungrounded queries.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System Architecture &amp; Modular Design</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685800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6492240" cy="457200"/>
          </a:xfrm>
          <a:prstGeom prst="rect">
            <a:avLst/>
          </a:prstGeom>
          <a:noFill/>
        </p:spPr>
        <p:txBody>
          <a:bodyPr wrap="square">
            <a:spAutoFit/>
          </a:bodyPr>
          <a:lstStyle/>
          <a:p>
            <a:pPr>
              <a:defRPr sz="1600" b="1">
                <a:solidFill>
                  <a:srgbClr val="38BDF8"/>
                </a:solidFill>
                <a:latin typeface="Calibri"/>
              </a:defRPr>
            </a:pPr>
            <a:r>
              <a:t>Layered Architecture Flow</a:t>
            </a:r>
          </a:p>
        </p:txBody>
      </p:sp>
      <p:sp>
        <p:nvSpPr>
          <p:cNvPr id="8" name="TextBox 7"/>
          <p:cNvSpPr txBox="1"/>
          <p:nvPr/>
        </p:nvSpPr>
        <p:spPr>
          <a:xfrm>
            <a:off x="914400" y="2103120"/>
            <a:ext cx="6492240" cy="4023360"/>
          </a:xfrm>
          <a:prstGeom prst="rect">
            <a:avLst/>
          </a:prstGeom>
          <a:noFill/>
        </p:spPr>
        <p:txBody>
          <a:bodyPr wrap="square">
            <a:spAutoFit/>
          </a:bodyPr>
          <a:lstStyle/>
          <a:p>
            <a:pPr>
              <a:spcAft>
                <a:spcPts val="1000"/>
              </a:spcAft>
            </a:pPr>
            <a:r>
              <a:rPr b="1" sz="1400">
                <a:solidFill>
                  <a:srgbClr val="38BDF8"/>
                </a:solidFill>
              </a:rPr>
              <a:t>1. UI &amp; Presentation Layer
</a:t>
            </a:r>
            <a:r>
              <a:rPr sz="1200">
                <a:solidFill>
                  <a:srgbClr val="F8FAFC"/>
                </a:solidFill>
              </a:rPr>
              <a:t>   └── Streamlit Command Center with custom Police Theme CSS (src/ui/components.py)</a:t>
            </a:r>
          </a:p>
          <a:p>
            <a:pPr>
              <a:spcAft>
                <a:spcPts val="1000"/>
              </a:spcAft>
            </a:pPr>
            <a:r>
              <a:rPr b="1" sz="1400">
                <a:solidFill>
                  <a:srgbClr val="38BDF8"/>
                </a:solidFill>
              </a:rPr>
              <a:t>2. Service Orchestration Layer
</a:t>
            </a:r>
            <a:r>
              <a:rPr sz="1200">
                <a:solidFill>
                  <a:srgbClr val="F8FAFC"/>
                </a:solidFill>
              </a:rPr>
              <a:t>   └── CrimeXService &amp; specialized services (Analytics, GIS Map, ML, Fire Detection, AI)</a:t>
            </a:r>
          </a:p>
          <a:p>
            <a:pPr>
              <a:spcAft>
                <a:spcPts val="1000"/>
              </a:spcAft>
            </a:pPr>
            <a:r>
              <a:rPr b="1" sz="1400">
                <a:solidFill>
                  <a:srgbClr val="38BDF8"/>
                </a:solidFill>
              </a:rPr>
              <a:t>3. GIS &amp; Spatial Pipeline
</a:t>
            </a:r>
            <a:r>
              <a:rPr sz="1200">
                <a:solidFill>
                  <a:srgbClr val="F8FAFC"/>
                </a:solidFill>
              </a:rPr>
              <a:t>   └── GeoPandas, Folium, Shapely &amp; Name Normalizer Engine (src/gis/name_normalizer.py)</a:t>
            </a:r>
          </a:p>
          <a:p>
            <a:pPr>
              <a:spcAft>
                <a:spcPts val="1000"/>
              </a:spcAft>
            </a:pPr>
            <a:r>
              <a:rPr b="1" sz="1400">
                <a:solidFill>
                  <a:srgbClr val="38BDF8"/>
                </a:solidFill>
              </a:rPr>
              <a:t>4. AI / ML / DL Engine
</a:t>
            </a:r>
            <a:r>
              <a:rPr sz="1200">
                <a:solidFill>
                  <a:srgbClr val="F8FAFC"/>
                </a:solidFill>
              </a:rPr>
              <a:t>   └── Scikit-Learn Ridge Regression (ML) + Ultralytics YOLO11n Fire Detector (DL)</a:t>
            </a:r>
          </a:p>
          <a:p>
            <a:pPr>
              <a:spcAft>
                <a:spcPts val="1000"/>
              </a:spcAft>
            </a:pPr>
            <a:r>
              <a:rPr b="1" sz="1400">
                <a:solidFill>
                  <a:srgbClr val="38BDF8"/>
                </a:solidFill>
              </a:rPr>
              <a:t>5. Repository &amp; Data Layer
</a:t>
            </a:r>
            <a:r>
              <a:rPr sz="1200">
                <a:solidFill>
                  <a:srgbClr val="F8FAFC"/>
                </a:solidFill>
              </a:rPr>
              <a:t>   └── SQLAlchemy 2.0 ORM Repository Pattern over SQLite3 Datastore (database/crime_x.sqlite3)</a:t>
            </a:r>
          </a:p>
        </p:txBody>
      </p:sp>
      <p:sp>
        <p:nvSpPr>
          <p:cNvPr id="9" name="Rounded Rectangle 8"/>
          <p:cNvSpPr/>
          <p:nvPr/>
        </p:nvSpPr>
        <p:spPr>
          <a:xfrm>
            <a:off x="7863840" y="1554480"/>
            <a:ext cx="3596335"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691640"/>
            <a:ext cx="3230575" cy="457200"/>
          </a:xfrm>
          <a:prstGeom prst="rect">
            <a:avLst/>
          </a:prstGeom>
          <a:noFill/>
        </p:spPr>
        <p:txBody>
          <a:bodyPr wrap="square">
            <a:spAutoFit/>
          </a:bodyPr>
          <a:lstStyle/>
          <a:p>
            <a:pPr>
              <a:defRPr sz="1600" b="1">
                <a:solidFill>
                  <a:srgbClr val="38BDF8"/>
                </a:solidFill>
                <a:latin typeface="Calibri"/>
              </a:defRPr>
            </a:pPr>
            <a:r>
              <a:t>Technology Stack</a:t>
            </a:r>
          </a:p>
        </p:txBody>
      </p:sp>
      <p:sp>
        <p:nvSpPr>
          <p:cNvPr id="11" name="TextBox 10"/>
          <p:cNvSpPr txBox="1"/>
          <p:nvPr/>
        </p:nvSpPr>
        <p:spPr>
          <a:xfrm>
            <a:off x="8046720" y="2103120"/>
            <a:ext cx="3200400" cy="4023360"/>
          </a:xfrm>
          <a:prstGeom prst="rect">
            <a:avLst/>
          </a:prstGeom>
          <a:noFill/>
        </p:spPr>
        <p:txBody>
          <a:bodyPr wrap="square">
            <a:spAutoFit/>
          </a:bodyPr>
          <a:lstStyle/>
          <a:p>
            <a:pPr>
              <a:spcAft>
                <a:spcPts val="800"/>
              </a:spcAft>
            </a:pPr>
            <a:r>
              <a:rPr b="1" sz="1200">
                <a:solidFill>
                  <a:srgbClr val="F59E0B"/>
                </a:solidFill>
              </a:rPr>
              <a:t>Language &amp; Core: </a:t>
            </a:r>
            <a:r>
              <a:rPr sz="1200">
                <a:solidFill>
                  <a:srgbClr val="F8FAFC"/>
                </a:solidFill>
              </a:rPr>
              <a:t>Python 3.11+ / 3.13</a:t>
            </a:r>
          </a:p>
          <a:p>
            <a:pPr>
              <a:spcAft>
                <a:spcPts val="800"/>
              </a:spcAft>
            </a:pPr>
            <a:r>
              <a:rPr b="1" sz="1200">
                <a:solidFill>
                  <a:srgbClr val="F59E0B"/>
                </a:solidFill>
              </a:rPr>
              <a:t>Web Framework: </a:t>
            </a:r>
            <a:r>
              <a:rPr sz="1200">
                <a:solidFill>
                  <a:srgbClr val="F8FAFC"/>
                </a:solidFill>
              </a:rPr>
              <a:t>Streamlit 1.30+</a:t>
            </a:r>
          </a:p>
          <a:p>
            <a:pPr>
              <a:spcAft>
                <a:spcPts val="800"/>
              </a:spcAft>
            </a:pPr>
            <a:r>
              <a:rPr b="1" sz="1200">
                <a:solidFill>
                  <a:srgbClr val="F59E0B"/>
                </a:solidFill>
              </a:rPr>
              <a:t>GIS &amp; Mapping: </a:t>
            </a:r>
            <a:r>
              <a:rPr sz="1200">
                <a:solidFill>
                  <a:srgbClr val="F8FAFC"/>
                </a:solidFill>
              </a:rPr>
              <a:t>GeoPandas, Folium, Shapely</a:t>
            </a:r>
          </a:p>
          <a:p>
            <a:pPr>
              <a:spcAft>
                <a:spcPts val="800"/>
              </a:spcAft>
            </a:pPr>
            <a:r>
              <a:rPr b="1" sz="1200">
                <a:solidFill>
                  <a:srgbClr val="F59E0B"/>
                </a:solidFill>
              </a:rPr>
              <a:t>Machine Learning: </a:t>
            </a:r>
            <a:r>
              <a:rPr sz="1200">
                <a:solidFill>
                  <a:srgbClr val="F8FAFC"/>
                </a:solidFill>
              </a:rPr>
              <a:t>Scikit-Learn, Pandas, NumPy</a:t>
            </a:r>
          </a:p>
          <a:p>
            <a:pPr>
              <a:spcAft>
                <a:spcPts val="800"/>
              </a:spcAft>
            </a:pPr>
            <a:r>
              <a:rPr b="1" sz="1200">
                <a:solidFill>
                  <a:srgbClr val="F59E0B"/>
                </a:solidFill>
              </a:rPr>
              <a:t>Deep Learning: </a:t>
            </a:r>
            <a:r>
              <a:rPr sz="1200">
                <a:solidFill>
                  <a:srgbClr val="F8FAFC"/>
                </a:solidFill>
              </a:rPr>
              <a:t>Ultralytics YOLO11n, PyTorch</a:t>
            </a:r>
          </a:p>
          <a:p>
            <a:pPr>
              <a:spcAft>
                <a:spcPts val="800"/>
              </a:spcAft>
            </a:pPr>
            <a:r>
              <a:rPr b="1" sz="1200">
                <a:solidFill>
                  <a:srgbClr val="F59E0B"/>
                </a:solidFill>
              </a:rPr>
              <a:t>Database &amp; ORM: </a:t>
            </a:r>
            <a:r>
              <a:rPr sz="1200">
                <a:solidFill>
                  <a:srgbClr val="F8FAFC"/>
                </a:solidFill>
              </a:rPr>
              <a:t>SQLite 3, SQLAlchemy 2.0</a:t>
            </a:r>
          </a:p>
          <a:p>
            <a:pPr>
              <a:spcAft>
                <a:spcPts val="800"/>
              </a:spcAft>
            </a:pPr>
            <a:r>
              <a:rPr b="1" sz="1200">
                <a:solidFill>
                  <a:srgbClr val="F59E0B"/>
                </a:solidFill>
              </a:rPr>
              <a:t>Testing Suite: </a:t>
            </a:r>
            <a:r>
              <a:rPr sz="1200">
                <a:solidFill>
                  <a:srgbClr val="F8FAFC"/>
                </a:solidFill>
              </a:rPr>
              <a:t>Pytest (Unit &amp; Integration)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Data Provenance &amp; Verified Indian GIS Pipeline</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754880" cy="457200"/>
          </a:xfrm>
          <a:prstGeom prst="rect">
            <a:avLst/>
          </a:prstGeom>
          <a:noFill/>
        </p:spPr>
        <p:txBody>
          <a:bodyPr wrap="square">
            <a:spAutoFit/>
          </a:bodyPr>
          <a:lstStyle/>
          <a:p>
            <a:pPr>
              <a:defRPr sz="1600" b="1">
                <a:solidFill>
                  <a:srgbClr val="38BDF8"/>
                </a:solidFill>
                <a:latin typeface="Calibri"/>
              </a:defRPr>
            </a:pPr>
            <a:r>
              <a:t>NCRB Grounded Data Provenance</a:t>
            </a:r>
          </a:p>
        </p:txBody>
      </p:sp>
      <p:sp>
        <p:nvSpPr>
          <p:cNvPr id="8" name="TextBox 7"/>
          <p:cNvSpPr txBox="1"/>
          <p:nvPr/>
        </p:nvSpPr>
        <p:spPr>
          <a:xfrm>
            <a:off x="914400" y="2103120"/>
            <a:ext cx="4754880" cy="4023360"/>
          </a:xfrm>
          <a:prstGeom prst="rect">
            <a:avLst/>
          </a:prstGeom>
          <a:noFill/>
        </p:spPr>
        <p:txBody>
          <a:bodyPr wrap="square">
            <a:spAutoFit/>
          </a:bodyPr>
          <a:lstStyle/>
          <a:p>
            <a:pPr>
              <a:spcAft>
                <a:spcPts val="1000"/>
              </a:spcAft>
            </a:pPr>
            <a:r>
              <a:rPr b="1" sz="1300">
                <a:solidFill>
                  <a:srgbClr val="F8FAFC"/>
                </a:solidFill>
              </a:rPr>
              <a:t>• Physical IPC Crime Records: </a:t>
            </a:r>
            <a:r>
              <a:rPr sz="1200">
                <a:solidFill>
                  <a:srgbClr val="94A3B8"/>
                </a:solidFill>
              </a:rPr>
              <a:t>NCRB Crime in India 2022 Table 1.1 with 934 district-level records across 36 States/UTs.</a:t>
            </a:r>
          </a:p>
          <a:p>
            <a:pPr>
              <a:spcAft>
                <a:spcPts val="1000"/>
              </a:spcAft>
            </a:pPr>
            <a:r>
              <a:rPr b="1" sz="1300">
                <a:solidFill>
                  <a:srgbClr val="F8FAFC"/>
                </a:solidFill>
              </a:rPr>
              <a:t>• Cybercrime Statistics: </a:t>
            </a:r>
            <a:r>
              <a:rPr sz="1200">
                <a:solidFill>
                  <a:srgbClr val="94A3B8"/>
                </a:solidFill>
              </a:rPr>
              <a:t>NCRB 2022 Table 1.9 capturing IT Act offences, online financial fraud, identity theft, and extortion.</a:t>
            </a:r>
          </a:p>
          <a:p>
            <a:pPr>
              <a:spcAft>
                <a:spcPts val="1000"/>
              </a:spcAft>
            </a:pPr>
            <a:r>
              <a:rPr b="1" sz="1300">
                <a:solidFill>
                  <a:srgbClr val="F8FAFC"/>
                </a:solidFill>
              </a:rPr>
              <a:t>• State Population &amp; Rates: </a:t>
            </a:r>
            <a:r>
              <a:rPr sz="1200">
                <a:solidFill>
                  <a:srgbClr val="94A3B8"/>
                </a:solidFill>
              </a:rPr>
              <a:t>NCRB Table 1A.1 projected population (in Lakhs) and official rate of cognizable crimes per 100k population.</a:t>
            </a:r>
          </a:p>
          <a:p>
            <a:pPr>
              <a:spcAft>
                <a:spcPts val="1000"/>
              </a:spcAft>
            </a:pPr>
            <a:r>
              <a:rPr b="1" sz="1300">
                <a:solidFill>
                  <a:srgbClr val="F8FAFC"/>
                </a:solidFill>
              </a:rPr>
              <a:t>• Historical Ahmedabad Series: </a:t>
            </a:r>
            <a:r>
              <a:rPr sz="1200">
                <a:solidFill>
                  <a:srgbClr val="94A3B8"/>
                </a:solidFill>
              </a:rPr>
              <a:t>Gujarat police jurisdiction multi-year baseline (2014–2018) for temporal comparison.</a:t>
            </a:r>
          </a:p>
        </p:txBody>
      </p:sp>
      <p:sp>
        <p:nvSpPr>
          <p:cNvPr id="9" name="Rounded Rectangle 8"/>
          <p:cNvSpPr/>
          <p:nvPr/>
        </p:nvSpPr>
        <p:spPr>
          <a:xfrm>
            <a:off x="6248095" y="155448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91640"/>
            <a:ext cx="4846320" cy="457200"/>
          </a:xfrm>
          <a:prstGeom prst="rect">
            <a:avLst/>
          </a:prstGeom>
          <a:noFill/>
        </p:spPr>
        <p:txBody>
          <a:bodyPr wrap="square">
            <a:spAutoFit/>
          </a:bodyPr>
          <a:lstStyle/>
          <a:p>
            <a:pPr>
              <a:defRPr sz="1600" b="1">
                <a:solidFill>
                  <a:srgbClr val="38BDF8"/>
                </a:solidFill>
                <a:latin typeface="Calibri"/>
              </a:defRPr>
            </a:pPr>
            <a:r>
              <a:t>Real GIS &amp; Boundary Normalization</a:t>
            </a:r>
          </a:p>
        </p:txBody>
      </p:sp>
      <p:sp>
        <p:nvSpPr>
          <p:cNvPr id="11" name="TextBox 10"/>
          <p:cNvSpPr txBox="1"/>
          <p:nvPr/>
        </p:nvSpPr>
        <p:spPr>
          <a:xfrm>
            <a:off x="6400800" y="2103120"/>
            <a:ext cx="4846320" cy="4023360"/>
          </a:xfrm>
          <a:prstGeom prst="rect">
            <a:avLst/>
          </a:prstGeom>
          <a:noFill/>
        </p:spPr>
        <p:txBody>
          <a:bodyPr wrap="square">
            <a:spAutoFit/>
          </a:bodyPr>
          <a:lstStyle/>
          <a:p>
            <a:pPr>
              <a:spcAft>
                <a:spcPts val="1000"/>
              </a:spcAft>
            </a:pPr>
            <a:r>
              <a:rPr b="1" sz="1300">
                <a:solidFill>
                  <a:srgbClr val="F8FAFC"/>
                </a:solidFill>
              </a:rPr>
              <a:t>• State Polygons (36/36 Matched): </a:t>
            </a:r>
            <a:r>
              <a:rPr sz="1200">
                <a:solidFill>
                  <a:srgbClr val="94A3B8"/>
                </a:solidFill>
              </a:rPr>
              <a:t>Authentic DataMeet Open Maps GeoJSON boundary shapefile covering all 36 States &amp; UTs (including Ladakh &amp; J&amp;K).</a:t>
            </a:r>
          </a:p>
          <a:p>
            <a:pPr>
              <a:spcAft>
                <a:spcPts val="1000"/>
              </a:spcAft>
            </a:pPr>
            <a:r>
              <a:rPr b="1" sz="1300">
                <a:solidFill>
                  <a:srgbClr val="F8FAFC"/>
                </a:solidFill>
              </a:rPr>
              <a:t>• District Polygons (594 Boundaries): </a:t>
            </a:r>
            <a:r>
              <a:rPr sz="1200">
                <a:solidFill>
                  <a:srgbClr val="94A3B8"/>
                </a:solidFill>
              </a:rPr>
              <a:t>Authentic GADM administrative district shapefile covering 594 geographical boundary polygons.</a:t>
            </a:r>
          </a:p>
          <a:p>
            <a:pPr>
              <a:spcAft>
                <a:spcPts val="1000"/>
              </a:spcAft>
            </a:pPr>
            <a:r>
              <a:rPr b="1" sz="1300">
                <a:solidFill>
                  <a:srgbClr val="F8FAFC"/>
                </a:solidFill>
              </a:rPr>
              <a:t>• Name Normalization Engine: </a:t>
            </a:r>
            <a:r>
              <a:rPr sz="1200">
                <a:solidFill>
                  <a:srgbClr val="94A3B8"/>
                </a:solidFill>
              </a:rPr>
              <a:t>src/gis/name_normalizer.py handles spelling variations, parent-state verification, and string distance matching.</a:t>
            </a:r>
          </a:p>
          <a:p>
            <a:pPr>
              <a:spcAft>
                <a:spcPts val="1000"/>
              </a:spcAft>
            </a:pPr>
            <a:r>
              <a:rPr b="1" sz="1300">
                <a:solidFill>
                  <a:srgbClr val="F8FAFC"/>
                </a:solidFill>
              </a:rPr>
              <a:t>• Zero Fabrication Guarantee: </a:t>
            </a:r>
            <a:r>
              <a:rPr sz="1200">
                <a:solidFill>
                  <a:srgbClr val="94A3B8"/>
                </a:solidFill>
              </a:rPr>
              <a:t>No synthetic centroids or random coordinates are generated. Unmatched police divisions (e.g. Railway Police) are transparently logged.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Module 1 &amp; 2: Operations Dashboard &amp; Crime Analytics</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2560320" cy="91440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200"/>
            <a:ext cx="2560320" cy="822960"/>
          </a:xfrm>
          <a:prstGeom prst="rect">
            <a:avLst/>
          </a:prstGeom>
          <a:noFill/>
        </p:spPr>
        <p:txBody>
          <a:bodyPr wrap="square">
            <a:spAutoFit/>
          </a:bodyPr>
          <a:lstStyle/>
          <a:p>
            <a:pPr algn="ctr">
              <a:defRPr sz="1000" b="1">
                <a:solidFill>
                  <a:srgbClr val="38BDF8"/>
                </a:solidFill>
              </a:defRPr>
            </a:pPr>
            <a:r>
              <a:t>TOTAL IPC CRIMES</a:t>
            </a:r>
          </a:p>
          <a:p>
            <a:pPr algn="ctr">
              <a:spcBef>
                <a:spcPts val="200"/>
              </a:spcBef>
              <a:defRPr sz="1400" b="1">
                <a:solidFill>
                  <a:srgbClr val="F8FAFC"/>
                </a:solidFill>
              </a:defRPr>
            </a:pPr>
            <a:r>
              <a:t>934 Records</a:t>
            </a:r>
          </a:p>
        </p:txBody>
      </p:sp>
      <p:sp>
        <p:nvSpPr>
          <p:cNvPr id="8" name="Rounded Rectangle 7"/>
          <p:cNvSpPr/>
          <p:nvPr/>
        </p:nvSpPr>
        <p:spPr>
          <a:xfrm>
            <a:off x="3456432" y="1554480"/>
            <a:ext cx="2560320" cy="914400"/>
          </a:xfrm>
          <a:prstGeom prst="roundRect">
            <a:avLst/>
          </a:prstGeom>
          <a:solidFill>
            <a:srgbClr val="1E293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56432" y="1600200"/>
            <a:ext cx="2560320" cy="822960"/>
          </a:xfrm>
          <a:prstGeom prst="rect">
            <a:avLst/>
          </a:prstGeom>
          <a:noFill/>
        </p:spPr>
        <p:txBody>
          <a:bodyPr wrap="square">
            <a:spAutoFit/>
          </a:bodyPr>
          <a:lstStyle/>
          <a:p>
            <a:pPr algn="ctr">
              <a:defRPr sz="1000" b="1">
                <a:solidFill>
                  <a:srgbClr val="F59E0B"/>
                </a:solidFill>
              </a:defRPr>
            </a:pPr>
            <a:r>
              <a:t>CYBERCRIME OFFENCES</a:t>
            </a:r>
          </a:p>
          <a:p>
            <a:pPr algn="ctr">
              <a:spcBef>
                <a:spcPts val="200"/>
              </a:spcBef>
              <a:defRPr sz="1400" b="1">
                <a:solidFill>
                  <a:srgbClr val="F8FAFC"/>
                </a:solidFill>
              </a:defRPr>
            </a:pPr>
            <a:r>
              <a:t>IT Act Table 1.9</a:t>
            </a:r>
          </a:p>
        </p:txBody>
      </p:sp>
      <p:sp>
        <p:nvSpPr>
          <p:cNvPr id="10" name="Rounded Rectangle 9"/>
          <p:cNvSpPr/>
          <p:nvPr/>
        </p:nvSpPr>
        <p:spPr>
          <a:xfrm>
            <a:off x="6181344" y="1554480"/>
            <a:ext cx="2560320" cy="914400"/>
          </a:xfrm>
          <a:prstGeom prst="roundRect">
            <a:avLst/>
          </a:prstGeom>
          <a:solidFill>
            <a:srgbClr val="1E293B"/>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1344" y="1600200"/>
            <a:ext cx="2560320" cy="822960"/>
          </a:xfrm>
          <a:prstGeom prst="rect">
            <a:avLst/>
          </a:prstGeom>
          <a:noFill/>
        </p:spPr>
        <p:txBody>
          <a:bodyPr wrap="square">
            <a:spAutoFit/>
          </a:bodyPr>
          <a:lstStyle/>
          <a:p>
            <a:pPr algn="ctr">
              <a:defRPr sz="1000" b="1">
                <a:solidFill>
                  <a:srgbClr val="22C55E"/>
                </a:solidFill>
              </a:defRPr>
            </a:pPr>
            <a:r>
              <a:t>GIS MAP COVERAGE</a:t>
            </a:r>
          </a:p>
          <a:p>
            <a:pPr algn="ctr">
              <a:spcBef>
                <a:spcPts val="200"/>
              </a:spcBef>
              <a:defRPr sz="1400" b="1">
                <a:solidFill>
                  <a:srgbClr val="F8FAFC"/>
                </a:solidFill>
              </a:defRPr>
            </a:pPr>
            <a:r>
              <a:t>36 States / 594 Dist</a:t>
            </a:r>
          </a:p>
        </p:txBody>
      </p:sp>
      <p:sp>
        <p:nvSpPr>
          <p:cNvPr id="12" name="Rounded Rectangle 11"/>
          <p:cNvSpPr/>
          <p:nvPr/>
        </p:nvSpPr>
        <p:spPr>
          <a:xfrm>
            <a:off x="8906256" y="1554480"/>
            <a:ext cx="2560320" cy="914400"/>
          </a:xfrm>
          <a:prstGeom prst="roundRect">
            <a:avLst/>
          </a:prstGeom>
          <a:solidFill>
            <a:srgbClr val="1E293B"/>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06256" y="1600200"/>
            <a:ext cx="2560320" cy="822960"/>
          </a:xfrm>
          <a:prstGeom prst="rect">
            <a:avLst/>
          </a:prstGeom>
          <a:noFill/>
        </p:spPr>
        <p:txBody>
          <a:bodyPr wrap="square">
            <a:spAutoFit/>
          </a:bodyPr>
          <a:lstStyle/>
          <a:p>
            <a:pPr algn="ctr">
              <a:defRPr sz="1000" b="1">
                <a:solidFill>
                  <a:srgbClr val="EF4444"/>
                </a:solidFill>
              </a:defRPr>
            </a:pPr>
            <a:r>
              <a:t>ACTIVE ALERTS</a:t>
            </a:r>
          </a:p>
          <a:p>
            <a:pPr algn="ctr">
              <a:spcBef>
                <a:spcPts val="200"/>
              </a:spcBef>
              <a:defRPr sz="1400" b="1">
                <a:solidFill>
                  <a:srgbClr val="F8FAFC"/>
                </a:solidFill>
              </a:defRPr>
            </a:pPr>
            <a:r>
              <a:t>Triage Dispatch</a:t>
            </a:r>
          </a:p>
        </p:txBody>
      </p:sp>
      <p:sp>
        <p:nvSpPr>
          <p:cNvPr id="14" name="Rounded Rectangle 13"/>
          <p:cNvSpPr/>
          <p:nvPr/>
        </p:nvSpPr>
        <p:spPr>
          <a:xfrm>
            <a:off x="731520" y="2651760"/>
            <a:ext cx="5212080" cy="36576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88920"/>
            <a:ext cx="4846320" cy="457200"/>
          </a:xfrm>
          <a:prstGeom prst="rect">
            <a:avLst/>
          </a:prstGeom>
          <a:noFill/>
        </p:spPr>
        <p:txBody>
          <a:bodyPr wrap="square">
            <a:spAutoFit/>
          </a:bodyPr>
          <a:lstStyle/>
          <a:p>
            <a:pPr>
              <a:defRPr sz="1600" b="1">
                <a:solidFill>
                  <a:srgbClr val="38BDF8"/>
                </a:solidFill>
                <a:latin typeface="Calibri"/>
              </a:defRPr>
            </a:pPr>
            <a:r>
              <a:t>1. Operations Dashboard View</a:t>
            </a:r>
          </a:p>
        </p:txBody>
      </p:sp>
      <p:sp>
        <p:nvSpPr>
          <p:cNvPr id="16" name="TextBox 15"/>
          <p:cNvSpPr txBox="1"/>
          <p:nvPr/>
        </p:nvSpPr>
        <p:spPr>
          <a:xfrm>
            <a:off x="914400" y="3200400"/>
            <a:ext cx="4846320" cy="2926080"/>
          </a:xfrm>
          <a:prstGeom prst="rect">
            <a:avLst/>
          </a:prstGeom>
          <a:noFill/>
        </p:spPr>
        <p:txBody>
          <a:bodyPr wrap="square">
            <a:spAutoFit/>
          </a:bodyPr>
          <a:lstStyle/>
          <a:p>
            <a:pPr>
              <a:spcAft>
                <a:spcPts val="800"/>
              </a:spcAft>
            </a:pPr>
            <a:r>
              <a:rPr b="1" sz="1200">
                <a:solidFill>
                  <a:srgbClr val="F8FAFC"/>
                </a:solidFill>
              </a:rPr>
              <a:t>• Command-Center KPIs: </a:t>
            </a:r>
            <a:r>
              <a:rPr sz="1100">
                <a:solidFill>
                  <a:srgbClr val="94A3B8"/>
                </a:solidFill>
              </a:rPr>
              <a:t>High-level aggregation of physical crimes, cyber incidents, and active emergency alerts.</a:t>
            </a:r>
          </a:p>
          <a:p>
            <a:pPr>
              <a:spcAft>
                <a:spcPts val="800"/>
              </a:spcAft>
            </a:pPr>
            <a:r>
              <a:rPr b="1" sz="1200">
                <a:solidFill>
                  <a:srgbClr val="F8FAFC"/>
                </a:solidFill>
              </a:rPr>
              <a:t>• System Health Monitor: </a:t>
            </a:r>
            <a:r>
              <a:rPr sz="1100">
                <a:solidFill>
                  <a:srgbClr val="94A3B8"/>
                </a:solidFill>
              </a:rPr>
              <a:t>Live status indicators for SQLite database connection, GIS shapefiles, and ML model availability.</a:t>
            </a:r>
          </a:p>
          <a:p>
            <a:pPr>
              <a:spcAft>
                <a:spcPts val="800"/>
              </a:spcAft>
            </a:pPr>
            <a:r>
              <a:rPr b="1" sz="1200">
                <a:solidFill>
                  <a:srgbClr val="F8FAFC"/>
                </a:solidFill>
              </a:rPr>
              <a:t>• Operational Alert Ticker: </a:t>
            </a:r>
            <a:r>
              <a:rPr sz="1100">
                <a:solidFill>
                  <a:srgbClr val="94A3B8"/>
                </a:solidFill>
              </a:rPr>
              <a:t>Displays latest critical and high-priority law enforcement dispatches.</a:t>
            </a:r>
          </a:p>
        </p:txBody>
      </p:sp>
      <p:sp>
        <p:nvSpPr>
          <p:cNvPr id="17" name="Rounded Rectangle 16"/>
          <p:cNvSpPr/>
          <p:nvPr/>
        </p:nvSpPr>
        <p:spPr>
          <a:xfrm>
            <a:off x="6248095" y="2651760"/>
            <a:ext cx="5212080" cy="36576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0975" y="2788920"/>
            <a:ext cx="4846320" cy="457200"/>
          </a:xfrm>
          <a:prstGeom prst="rect">
            <a:avLst/>
          </a:prstGeom>
          <a:noFill/>
        </p:spPr>
        <p:txBody>
          <a:bodyPr wrap="square">
            <a:spAutoFit/>
          </a:bodyPr>
          <a:lstStyle/>
          <a:p>
            <a:pPr>
              <a:defRPr sz="1600" b="1">
                <a:solidFill>
                  <a:srgbClr val="38BDF8"/>
                </a:solidFill>
                <a:latin typeface="Calibri"/>
              </a:defRPr>
            </a:pPr>
            <a:r>
              <a:t>2. Crime Intelligence View</a:t>
            </a:r>
          </a:p>
        </p:txBody>
      </p:sp>
      <p:sp>
        <p:nvSpPr>
          <p:cNvPr id="19" name="TextBox 18"/>
          <p:cNvSpPr txBox="1"/>
          <p:nvPr/>
        </p:nvSpPr>
        <p:spPr>
          <a:xfrm>
            <a:off x="6400800" y="3200400"/>
            <a:ext cx="4846320" cy="2926080"/>
          </a:xfrm>
          <a:prstGeom prst="rect">
            <a:avLst/>
          </a:prstGeom>
          <a:noFill/>
        </p:spPr>
        <p:txBody>
          <a:bodyPr wrap="square">
            <a:spAutoFit/>
          </a:bodyPr>
          <a:lstStyle/>
          <a:p>
            <a:pPr>
              <a:spcAft>
                <a:spcPts val="800"/>
              </a:spcAft>
            </a:pPr>
            <a:r>
              <a:rPr b="1" sz="1200">
                <a:solidFill>
                  <a:srgbClr val="F8FAFC"/>
                </a:solidFill>
              </a:rPr>
              <a:t>• State &amp; District Rankings: </a:t>
            </a:r>
            <a:r>
              <a:rPr sz="1100">
                <a:solidFill>
                  <a:srgbClr val="94A3B8"/>
                </a:solidFill>
              </a:rPr>
              <a:t>Dynamic bar charts comparing top crime reporting states and districts across India.</a:t>
            </a:r>
          </a:p>
          <a:p>
            <a:pPr>
              <a:spcAft>
                <a:spcPts val="800"/>
              </a:spcAft>
            </a:pPr>
            <a:r>
              <a:rPr b="1" sz="1200">
                <a:solidFill>
                  <a:srgbClr val="F8FAFC"/>
                </a:solidFill>
              </a:rPr>
              <a:t>• Category Breakdown: </a:t>
            </a:r>
            <a:r>
              <a:rPr sz="1100">
                <a:solidFill>
                  <a:srgbClr val="94A3B8"/>
                </a:solidFill>
              </a:rPr>
              <a:t>Exploratory analysis across IPC crime categories (Violent Crime, Theft, Property Crime, etc.).</a:t>
            </a:r>
          </a:p>
          <a:p>
            <a:pPr>
              <a:spcAft>
                <a:spcPts val="800"/>
              </a:spcAft>
            </a:pPr>
            <a:r>
              <a:rPr b="1" sz="1200">
                <a:solidFill>
                  <a:srgbClr val="F8FAFC"/>
                </a:solidFill>
              </a:rPr>
              <a:t>• Benchmarking &amp; Filters: </a:t>
            </a:r>
            <a:r>
              <a:rPr sz="1100">
                <a:solidFill>
                  <a:srgbClr val="94A3B8"/>
                </a:solidFill>
              </a:rPr>
              <a:t>State-level per-100k rate comparison against national averages.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Module 3: Geographic Crime Intelligence (Folium GIS Map)</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754880" cy="457200"/>
          </a:xfrm>
          <a:prstGeom prst="rect">
            <a:avLst/>
          </a:prstGeom>
          <a:noFill/>
        </p:spPr>
        <p:txBody>
          <a:bodyPr wrap="square">
            <a:spAutoFit/>
          </a:bodyPr>
          <a:lstStyle/>
          <a:p>
            <a:pPr>
              <a:defRPr sz="1600" b="1">
                <a:solidFill>
                  <a:srgbClr val="38BDF8"/>
                </a:solidFill>
                <a:latin typeface="Calibri"/>
              </a:defRPr>
            </a:pPr>
            <a:r>
              <a:t>Interactive Folium Map Engine</a:t>
            </a:r>
          </a:p>
        </p:txBody>
      </p:sp>
      <p:sp>
        <p:nvSpPr>
          <p:cNvPr id="8" name="TextBox 7"/>
          <p:cNvSpPr txBox="1"/>
          <p:nvPr/>
        </p:nvSpPr>
        <p:spPr>
          <a:xfrm>
            <a:off x="914400" y="2103120"/>
            <a:ext cx="4754880" cy="4023360"/>
          </a:xfrm>
          <a:prstGeom prst="rect">
            <a:avLst/>
          </a:prstGeom>
          <a:noFill/>
        </p:spPr>
        <p:txBody>
          <a:bodyPr wrap="square">
            <a:spAutoFit/>
          </a:bodyPr>
          <a:lstStyle/>
          <a:p>
            <a:pPr>
              <a:spcAft>
                <a:spcPts val="1000"/>
              </a:spcAft>
            </a:pPr>
            <a:r>
              <a:rPr b="1" sz="1300">
                <a:solidFill>
                  <a:srgbClr val="F8FAFC"/>
                </a:solidFill>
              </a:rPr>
              <a:t>• Choropleth Visualizations: </a:t>
            </a:r>
            <a:r>
              <a:rPr sz="1200">
                <a:solidFill>
                  <a:srgbClr val="94A3B8"/>
                </a:solidFill>
              </a:rPr>
              <a:t>State and district boundaries shaded dynamically based on crime density.</a:t>
            </a:r>
          </a:p>
          <a:p>
            <a:pPr>
              <a:spcAft>
                <a:spcPts val="1000"/>
              </a:spcAft>
            </a:pPr>
            <a:r>
              <a:rPr b="1" sz="1300">
                <a:solidFill>
                  <a:srgbClr val="F8FAFC"/>
                </a:solidFill>
              </a:rPr>
              <a:t>• Interactive Tooltips &amp; Cards: </a:t>
            </a:r>
            <a:r>
              <a:rPr sz="1200">
                <a:solidFill>
                  <a:srgbClr val="94A3B8"/>
                </a:solidFill>
              </a:rPr>
              <a:t>Hovering over any district displays exact crime counts, state affiliation, and category breakdown.</a:t>
            </a:r>
          </a:p>
          <a:p>
            <a:pPr>
              <a:spcAft>
                <a:spcPts val="1000"/>
              </a:spcAft>
            </a:pPr>
            <a:r>
              <a:rPr b="1" sz="1300">
                <a:solidFill>
                  <a:srgbClr val="F8FAFC"/>
                </a:solidFill>
              </a:rPr>
              <a:t>• Dynamic Quartile Legends: </a:t>
            </a:r>
            <a:r>
              <a:rPr sz="1200">
                <a:solidFill>
                  <a:srgbClr val="94A3B8"/>
                </a:solidFill>
              </a:rPr>
              <a:t>Prevents visual bias by categorizing crime levels into balanced statistical quartiles (Q1 to Q4).</a:t>
            </a:r>
          </a:p>
          <a:p>
            <a:pPr>
              <a:spcAft>
                <a:spcPts val="1000"/>
              </a:spcAft>
            </a:pPr>
            <a:r>
              <a:rPr b="1" sz="1300">
                <a:solidFill>
                  <a:srgbClr val="F8FAFC"/>
                </a:solidFill>
              </a:rPr>
              <a:t>• Seamless Zoom &amp; Pan: </a:t>
            </a:r>
            <a:r>
              <a:rPr sz="1200">
                <a:solidFill>
                  <a:srgbClr val="94A3B8"/>
                </a:solidFill>
              </a:rPr>
              <a:t>Fully responsive GIS web canvas embedded directly inside the Streamlit dashboard.</a:t>
            </a:r>
          </a:p>
        </p:txBody>
      </p:sp>
      <p:sp>
        <p:nvSpPr>
          <p:cNvPr id="9" name="Rounded Rectangle 8"/>
          <p:cNvSpPr/>
          <p:nvPr/>
        </p:nvSpPr>
        <p:spPr>
          <a:xfrm>
            <a:off x="6248095" y="1554480"/>
            <a:ext cx="5212080"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91640"/>
            <a:ext cx="4846320" cy="457200"/>
          </a:xfrm>
          <a:prstGeom prst="rect">
            <a:avLst/>
          </a:prstGeom>
          <a:noFill/>
        </p:spPr>
        <p:txBody>
          <a:bodyPr wrap="square">
            <a:spAutoFit/>
          </a:bodyPr>
          <a:lstStyle/>
          <a:p>
            <a:pPr>
              <a:defRPr sz="1600" b="1">
                <a:solidFill>
                  <a:srgbClr val="38BDF8"/>
                </a:solidFill>
                <a:latin typeface="Calibri"/>
              </a:defRPr>
            </a:pPr>
            <a:r>
              <a:t>GIS Integrity &amp; Diagnostic Audit</a:t>
            </a:r>
          </a:p>
        </p:txBody>
      </p:sp>
      <p:sp>
        <p:nvSpPr>
          <p:cNvPr id="11" name="TextBox 10"/>
          <p:cNvSpPr txBox="1"/>
          <p:nvPr/>
        </p:nvSpPr>
        <p:spPr>
          <a:xfrm>
            <a:off x="6400800" y="2103120"/>
            <a:ext cx="4846320" cy="4023360"/>
          </a:xfrm>
          <a:prstGeom prst="rect">
            <a:avLst/>
          </a:prstGeom>
          <a:noFill/>
        </p:spPr>
        <p:txBody>
          <a:bodyPr wrap="square">
            <a:spAutoFit/>
          </a:bodyPr>
          <a:lstStyle/>
          <a:p>
            <a:pPr>
              <a:spcAft>
                <a:spcPts val="1000"/>
              </a:spcAft>
            </a:pPr>
            <a:r>
              <a:rPr b="1" sz="1300">
                <a:solidFill>
                  <a:srgbClr val="F8FAFC"/>
                </a:solidFill>
              </a:rPr>
              <a:t>• 100% State Boundary Matching: </a:t>
            </a:r>
            <a:r>
              <a:rPr sz="1200">
                <a:solidFill>
                  <a:srgbClr val="94A3B8"/>
                </a:solidFill>
              </a:rPr>
              <a:t>All 36 States and Union Territories match perfectly with DataMeet GeoJSON polygon boundaries.</a:t>
            </a:r>
          </a:p>
          <a:p>
            <a:pPr>
              <a:spcAft>
                <a:spcPts val="1000"/>
              </a:spcAft>
            </a:pPr>
            <a:r>
              <a:rPr b="1" sz="1300">
                <a:solidFill>
                  <a:srgbClr val="F8FAFC"/>
                </a:solidFill>
              </a:rPr>
              <a:t>• District Boundary Resolution: </a:t>
            </a:r>
            <a:r>
              <a:rPr sz="1200">
                <a:solidFill>
                  <a:srgbClr val="94A3B8"/>
                </a:solidFill>
              </a:rPr>
              <a:t>Over 400 NCRB district entities cleanly matched against GADM 594 administrative boundaries.</a:t>
            </a:r>
          </a:p>
          <a:p>
            <a:pPr>
              <a:spcAft>
                <a:spcPts val="1000"/>
              </a:spcAft>
            </a:pPr>
            <a:r>
              <a:rPr b="1" sz="1300">
                <a:solidFill>
                  <a:srgbClr val="F8FAFC"/>
                </a:solidFill>
              </a:rPr>
              <a:t>• Audited Non-Geographic Entries: </a:t>
            </a:r>
            <a:r>
              <a:rPr sz="1200">
                <a:solidFill>
                  <a:srgbClr val="94A3B8"/>
                </a:solidFill>
              </a:rPr>
              <a:t>Specialized police jurisdictions (e.g., Railway Police, Commissionerate splits) lacking discrete polygons are logged transparently in data/processed/gis_name_matching.csv.</a:t>
            </a:r>
          </a:p>
          <a:p>
            <a:pPr>
              <a:spcAft>
                <a:spcPts val="1000"/>
              </a:spcAft>
            </a:pPr>
            <a:r>
              <a:rPr b="1" sz="1300">
                <a:solidFill>
                  <a:srgbClr val="F8FAFC"/>
                </a:solidFill>
              </a:rPr>
              <a:t>• Zero Fabrication Principle: </a:t>
            </a:r>
            <a:r>
              <a:rPr sz="1200">
                <a:solidFill>
                  <a:srgbClr val="94A3B8"/>
                </a:solidFill>
              </a:rPr>
              <a:t>No synthetic centroids or fake map markers are ever generated.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Module 4: Supervised ML Crime Prediction Engine</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754880" cy="457200"/>
          </a:xfrm>
          <a:prstGeom prst="rect">
            <a:avLst/>
          </a:prstGeom>
          <a:noFill/>
        </p:spPr>
        <p:txBody>
          <a:bodyPr wrap="square">
            <a:spAutoFit/>
          </a:bodyPr>
          <a:lstStyle/>
          <a:p>
            <a:pPr>
              <a:defRPr sz="1600" b="1">
                <a:solidFill>
                  <a:srgbClr val="38BDF8"/>
                </a:solidFill>
                <a:latin typeface="Calibri"/>
              </a:defRPr>
            </a:pPr>
            <a:r>
              <a:t>Ridge Regression ML Model</a:t>
            </a:r>
          </a:p>
        </p:txBody>
      </p:sp>
      <p:sp>
        <p:nvSpPr>
          <p:cNvPr id="8" name="TextBox 7"/>
          <p:cNvSpPr txBox="1"/>
          <p:nvPr/>
        </p:nvSpPr>
        <p:spPr>
          <a:xfrm>
            <a:off x="914400" y="2103120"/>
            <a:ext cx="4754880" cy="4023360"/>
          </a:xfrm>
          <a:prstGeom prst="rect">
            <a:avLst/>
          </a:prstGeom>
          <a:noFill/>
        </p:spPr>
        <p:txBody>
          <a:bodyPr wrap="square">
            <a:spAutoFit/>
          </a:bodyPr>
          <a:lstStyle/>
          <a:p>
            <a:pPr>
              <a:spcAft>
                <a:spcPts val="1000"/>
              </a:spcAft>
            </a:pPr>
            <a:r>
              <a:rPr b="1" sz="1300">
                <a:solidFill>
                  <a:srgbClr val="F8FAFC"/>
                </a:solidFill>
              </a:rPr>
              <a:t>• Supervised ML Baseline: </a:t>
            </a:r>
            <a:r>
              <a:rPr sz="1200">
                <a:solidFill>
                  <a:srgbClr val="94A3B8"/>
                </a:solidFill>
              </a:rPr>
              <a:t>Linear / Ridge Regression decision-support baseline trained on multi-year observation series.</a:t>
            </a:r>
          </a:p>
          <a:p>
            <a:pPr>
              <a:spcAft>
                <a:spcPts val="1000"/>
              </a:spcAft>
            </a:pPr>
            <a:r>
              <a:rPr b="1" sz="1300">
                <a:solidFill>
                  <a:srgbClr val="F8FAFC"/>
                </a:solidFill>
              </a:rPr>
              <a:t>• Feature Engineering Matrix: </a:t>
            </a:r>
            <a:r>
              <a:rPr sz="1200">
                <a:solidFill>
                  <a:srgbClr val="94A3B8"/>
                </a:solidFill>
              </a:rPr>
              <a:t>Encodes state/district historical volume, category weightings, and temporal baseline trends.</a:t>
            </a:r>
          </a:p>
          <a:p>
            <a:pPr>
              <a:spcAft>
                <a:spcPts val="1000"/>
              </a:spcAft>
            </a:pPr>
            <a:r>
              <a:rPr b="1" sz="1300">
                <a:solidFill>
                  <a:srgbClr val="F8FAFC"/>
                </a:solidFill>
              </a:rPr>
              <a:t>• Persisted Prediction History: </a:t>
            </a:r>
            <a:r>
              <a:rPr sz="1200">
                <a:solidFill>
                  <a:srgbClr val="94A3B8"/>
                </a:solidFill>
              </a:rPr>
              <a:t>All prediction queries, input snapshots, and estimated outputs are saved to the crime_predictions database table.</a:t>
            </a:r>
          </a:p>
          <a:p>
            <a:pPr>
              <a:spcAft>
                <a:spcPts val="1000"/>
              </a:spcAft>
            </a:pPr>
            <a:r>
              <a:rPr b="1" sz="1300">
                <a:solidFill>
                  <a:srgbClr val="F8FAFC"/>
                </a:solidFill>
              </a:rPr>
              <a:t>• Comparative Baseline: </a:t>
            </a:r>
            <a:r>
              <a:rPr sz="1200">
                <a:solidFill>
                  <a:srgbClr val="94A3B8"/>
                </a:solidFill>
              </a:rPr>
              <a:t>Allows analysts to compare projected annual totals against historical NCRB benchmarks.</a:t>
            </a:r>
          </a:p>
        </p:txBody>
      </p:sp>
      <p:sp>
        <p:nvSpPr>
          <p:cNvPr id="9" name="Rounded Rectangle 8"/>
          <p:cNvSpPr/>
          <p:nvPr/>
        </p:nvSpPr>
        <p:spPr>
          <a:xfrm>
            <a:off x="6248095" y="1554480"/>
            <a:ext cx="5212080" cy="47548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91640"/>
            <a:ext cx="4846320" cy="457200"/>
          </a:xfrm>
          <a:prstGeom prst="rect">
            <a:avLst/>
          </a:prstGeom>
          <a:noFill/>
        </p:spPr>
        <p:txBody>
          <a:bodyPr wrap="square">
            <a:spAutoFit/>
          </a:bodyPr>
          <a:lstStyle/>
          <a:p>
            <a:pPr>
              <a:defRPr sz="1600" b="1">
                <a:solidFill>
                  <a:srgbClr val="38BDF8"/>
                </a:solidFill>
                <a:latin typeface="Calibri"/>
              </a:defRPr>
            </a:pPr>
            <a:r>
              <a:t>Academic Safeguards &amp; Limitations</a:t>
            </a:r>
          </a:p>
        </p:txBody>
      </p:sp>
      <p:sp>
        <p:nvSpPr>
          <p:cNvPr id="11" name="TextBox 10"/>
          <p:cNvSpPr txBox="1"/>
          <p:nvPr/>
        </p:nvSpPr>
        <p:spPr>
          <a:xfrm>
            <a:off x="6400800" y="2103120"/>
            <a:ext cx="4846320" cy="4023360"/>
          </a:xfrm>
          <a:prstGeom prst="rect">
            <a:avLst/>
          </a:prstGeom>
          <a:noFill/>
        </p:spPr>
        <p:txBody>
          <a:bodyPr wrap="square">
            <a:spAutoFit/>
          </a:bodyPr>
          <a:lstStyle/>
          <a:p>
            <a:pPr>
              <a:spcAft>
                <a:spcPts val="1000"/>
              </a:spcAft>
            </a:pPr>
            <a:r>
              <a:rPr b="1" sz="1300">
                <a:solidFill>
                  <a:srgbClr val="F8FAFC"/>
                </a:solidFill>
              </a:rPr>
              <a:t>• Decision-Support Scope: </a:t>
            </a:r>
            <a:r>
              <a:rPr sz="1200">
                <a:solidFill>
                  <a:srgbClr val="94A3B8"/>
                </a:solidFill>
              </a:rPr>
              <a:t>Explicit UI disclaimers state that prediction estimates are for trend comparison, NOT absolute guarantees.</a:t>
            </a:r>
          </a:p>
          <a:p>
            <a:pPr>
              <a:spcAft>
                <a:spcPts val="1000"/>
              </a:spcAft>
            </a:pPr>
            <a:r>
              <a:rPr b="1" sz="1300">
                <a:solidFill>
                  <a:srgbClr val="F8FAFC"/>
                </a:solidFill>
              </a:rPr>
              <a:t>• Confidence Limits Flagged: </a:t>
            </a:r>
            <a:r>
              <a:rPr sz="1200">
                <a:solidFill>
                  <a:srgbClr val="94A3B8"/>
                </a:solidFill>
              </a:rPr>
              <a:t>Parametric confidence intervals are explicitly marked UNAVAILABLE due to short 3-year observation series.</a:t>
            </a:r>
          </a:p>
          <a:p>
            <a:pPr>
              <a:spcAft>
                <a:spcPts val="1000"/>
              </a:spcAft>
            </a:pPr>
            <a:r>
              <a:rPr b="1" sz="1300">
                <a:solidFill>
                  <a:srgbClr val="F8FAFC"/>
                </a:solidFill>
              </a:rPr>
              <a:t>• Non-Deterministic Guardrails: </a:t>
            </a:r>
            <a:r>
              <a:rPr sz="1200">
                <a:solidFill>
                  <a:srgbClr val="94A3B8"/>
                </a:solidFill>
              </a:rPr>
              <a:t>Prevents over-reliance on predictive models by clearly displaying statistical limitations.</a:t>
            </a:r>
          </a:p>
          <a:p>
            <a:pPr>
              <a:spcAft>
                <a:spcPts val="1000"/>
              </a:spcAft>
            </a:pPr>
            <a:r>
              <a:rPr b="1" sz="1300">
                <a:solidFill>
                  <a:srgbClr val="F8FAFC"/>
                </a:solidFill>
              </a:rPr>
              <a:t>• Ethics &amp; Accountability: </a:t>
            </a:r>
            <a:r>
              <a:rPr sz="1200">
                <a:solidFill>
                  <a:srgbClr val="94A3B8"/>
                </a:solidFill>
              </a:rPr>
              <a:t>Designed to support resource allocation planning while preventing automated bias in policing.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Module 5: Cybercrime &amp; Digital Threat Intelligence</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754880" cy="457200"/>
          </a:xfrm>
          <a:prstGeom prst="rect">
            <a:avLst/>
          </a:prstGeom>
          <a:noFill/>
        </p:spPr>
        <p:txBody>
          <a:bodyPr wrap="square">
            <a:spAutoFit/>
          </a:bodyPr>
          <a:lstStyle/>
          <a:p>
            <a:pPr>
              <a:defRPr sz="1600" b="1">
                <a:solidFill>
                  <a:srgbClr val="38BDF8"/>
                </a:solidFill>
                <a:latin typeface="Calibri"/>
              </a:defRPr>
            </a:pPr>
            <a:r>
              <a:t>IT Act &amp; Cyber Offence Coverage</a:t>
            </a:r>
          </a:p>
        </p:txBody>
      </p:sp>
      <p:sp>
        <p:nvSpPr>
          <p:cNvPr id="8" name="TextBox 7"/>
          <p:cNvSpPr txBox="1"/>
          <p:nvPr/>
        </p:nvSpPr>
        <p:spPr>
          <a:xfrm>
            <a:off x="914400" y="2103120"/>
            <a:ext cx="4754880" cy="4023360"/>
          </a:xfrm>
          <a:prstGeom prst="rect">
            <a:avLst/>
          </a:prstGeom>
          <a:noFill/>
        </p:spPr>
        <p:txBody>
          <a:bodyPr wrap="square">
            <a:spAutoFit/>
          </a:bodyPr>
          <a:lstStyle/>
          <a:p>
            <a:pPr>
              <a:spcAft>
                <a:spcPts val="1000"/>
              </a:spcAft>
            </a:pPr>
            <a:r>
              <a:rPr b="1" sz="1300">
                <a:solidFill>
                  <a:srgbClr val="F8FAFC"/>
                </a:solidFill>
              </a:rPr>
              <a:t>• NCRB Table 1.9 Grounding: </a:t>
            </a:r>
            <a:r>
              <a:rPr sz="1200">
                <a:solidFill>
                  <a:srgbClr val="94A3B8"/>
                </a:solidFill>
              </a:rPr>
              <a:t>Dedicated analytical pipeline covering IT Act offences across Indian States &amp; UTs.</a:t>
            </a:r>
          </a:p>
          <a:p>
            <a:pPr>
              <a:spcAft>
                <a:spcPts val="1000"/>
              </a:spcAft>
            </a:pPr>
            <a:r>
              <a:rPr b="1" sz="1300">
                <a:solidFill>
                  <a:srgbClr val="F8FAFC"/>
                </a:solidFill>
              </a:rPr>
              <a:t>• Categorical Granularity: </a:t>
            </a:r>
            <a:r>
              <a:rPr sz="1200">
                <a:solidFill>
                  <a:srgbClr val="94A3B8"/>
                </a:solidFill>
              </a:rPr>
              <a:t>Breaks down cyber offences into key legal categories under Indian cybersecurity law.</a:t>
            </a:r>
          </a:p>
          <a:p>
            <a:pPr>
              <a:spcAft>
                <a:spcPts val="1000"/>
              </a:spcAft>
            </a:pPr>
            <a:r>
              <a:rPr b="1" sz="1300">
                <a:solidFill>
                  <a:srgbClr val="F8FAFC"/>
                </a:solidFill>
              </a:rPr>
              <a:t>• State Cyber Cell Metrics: </a:t>
            </a:r>
            <a:r>
              <a:rPr sz="1200">
                <a:solidFill>
                  <a:srgbClr val="94A3B8"/>
                </a:solidFill>
              </a:rPr>
              <a:t>Ranks state-wise cybercrime density and digital threat volume.</a:t>
            </a:r>
          </a:p>
          <a:p>
            <a:pPr>
              <a:spcAft>
                <a:spcPts val="1000"/>
              </a:spcAft>
            </a:pPr>
            <a:r>
              <a:rPr b="1" sz="1300">
                <a:solidFill>
                  <a:srgbClr val="F8FAFC"/>
                </a:solidFill>
              </a:rPr>
              <a:t>• Financial Loss Analytics: </a:t>
            </a:r>
            <a:r>
              <a:rPr sz="1200">
                <a:solidFill>
                  <a:srgbClr val="94A3B8"/>
                </a:solidFill>
              </a:rPr>
              <a:t>Highlights high-incidence online financial fraud zones across urban centers.</a:t>
            </a:r>
          </a:p>
        </p:txBody>
      </p:sp>
      <p:sp>
        <p:nvSpPr>
          <p:cNvPr id="9" name="Rounded Rectangle 8"/>
          <p:cNvSpPr/>
          <p:nvPr/>
        </p:nvSpPr>
        <p:spPr>
          <a:xfrm>
            <a:off x="6248095" y="1554480"/>
            <a:ext cx="5212080"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91640"/>
            <a:ext cx="4846320" cy="457200"/>
          </a:xfrm>
          <a:prstGeom prst="rect">
            <a:avLst/>
          </a:prstGeom>
          <a:noFill/>
        </p:spPr>
        <p:txBody>
          <a:bodyPr wrap="square">
            <a:spAutoFit/>
          </a:bodyPr>
          <a:lstStyle/>
          <a:p>
            <a:pPr>
              <a:defRPr sz="1600" b="1">
                <a:solidFill>
                  <a:srgbClr val="38BDF8"/>
                </a:solidFill>
                <a:latin typeface="Calibri"/>
              </a:defRPr>
            </a:pPr>
            <a:r>
              <a:t>Key Cyber Offence Categories</a:t>
            </a:r>
          </a:p>
        </p:txBody>
      </p:sp>
      <p:sp>
        <p:nvSpPr>
          <p:cNvPr id="11" name="TextBox 10"/>
          <p:cNvSpPr txBox="1"/>
          <p:nvPr/>
        </p:nvSpPr>
        <p:spPr>
          <a:xfrm>
            <a:off x="6400800" y="2103120"/>
            <a:ext cx="4846320" cy="4023360"/>
          </a:xfrm>
          <a:prstGeom prst="rect">
            <a:avLst/>
          </a:prstGeom>
          <a:noFill/>
        </p:spPr>
        <p:txBody>
          <a:bodyPr wrap="square">
            <a:spAutoFit/>
          </a:bodyPr>
          <a:lstStyle/>
          <a:p>
            <a:pPr>
              <a:spcAft>
                <a:spcPts val="1000"/>
              </a:spcAft>
            </a:pPr>
            <a:r>
              <a:rPr b="1" sz="1300">
                <a:solidFill>
                  <a:srgbClr val="F8FAFC"/>
                </a:solidFill>
              </a:rPr>
              <a:t>• Online Financial Fraud: </a:t>
            </a:r>
            <a:r>
              <a:rPr sz="1200">
                <a:solidFill>
                  <a:srgbClr val="94A3B8"/>
                </a:solidFill>
              </a:rPr>
              <a:t>Banking scams, UPI frauds, phishing, and credit card fraud incidents.</a:t>
            </a:r>
          </a:p>
          <a:p>
            <a:pPr>
              <a:spcAft>
                <a:spcPts val="1000"/>
              </a:spcAft>
            </a:pPr>
            <a:r>
              <a:rPr b="1" sz="1300">
                <a:solidFill>
                  <a:srgbClr val="F8FAFC"/>
                </a:solidFill>
              </a:rPr>
              <a:t>• Identity Theft &amp; Impersonation: </a:t>
            </a:r>
            <a:r>
              <a:rPr sz="1200">
                <a:solidFill>
                  <a:srgbClr val="94A3B8"/>
                </a:solidFill>
              </a:rPr>
              <a:t>Social media identity theft, fake profiles, and spoofing offences.</a:t>
            </a:r>
          </a:p>
          <a:p>
            <a:pPr>
              <a:spcAft>
                <a:spcPts val="1000"/>
              </a:spcAft>
            </a:pPr>
            <a:r>
              <a:rPr b="1" sz="1300">
                <a:solidFill>
                  <a:srgbClr val="F8FAFC"/>
                </a:solidFill>
              </a:rPr>
              <a:t>• Cyber Blackmail &amp; Extortion: </a:t>
            </a:r>
            <a:r>
              <a:rPr sz="1200">
                <a:solidFill>
                  <a:srgbClr val="94A3B8"/>
                </a:solidFill>
              </a:rPr>
              <a:t>Ransomware threats, digital blackmail, and online harassment cases.</a:t>
            </a:r>
          </a:p>
          <a:p>
            <a:pPr>
              <a:spcAft>
                <a:spcPts val="1000"/>
              </a:spcAft>
            </a:pPr>
            <a:r>
              <a:rPr b="1" sz="1300">
                <a:solidFill>
                  <a:srgbClr val="F8FAFC"/>
                </a:solidFill>
              </a:rPr>
              <a:t>• System Hacking &amp; Malware: </a:t>
            </a:r>
            <a:r>
              <a:rPr sz="1200">
                <a:solidFill>
                  <a:srgbClr val="94A3B8"/>
                </a:solidFill>
              </a:rPr>
              <a:t>Unauthorized network access, malware deployment, and web defacement.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Module 6: Computer Vision Safety Prototype (AI Fire Detection)</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754880" cy="457200"/>
          </a:xfrm>
          <a:prstGeom prst="rect">
            <a:avLst/>
          </a:prstGeom>
          <a:noFill/>
        </p:spPr>
        <p:txBody>
          <a:bodyPr wrap="square">
            <a:spAutoFit/>
          </a:bodyPr>
          <a:lstStyle/>
          <a:p>
            <a:pPr>
              <a:defRPr sz="1600" b="1">
                <a:solidFill>
                  <a:srgbClr val="38BDF8"/>
                </a:solidFill>
                <a:latin typeface="Calibri"/>
              </a:defRPr>
            </a:pPr>
            <a:r>
              <a:t>YOLO11n Visual Detection Model</a:t>
            </a:r>
          </a:p>
        </p:txBody>
      </p:sp>
      <p:sp>
        <p:nvSpPr>
          <p:cNvPr id="8" name="TextBox 7"/>
          <p:cNvSpPr txBox="1"/>
          <p:nvPr/>
        </p:nvSpPr>
        <p:spPr>
          <a:xfrm>
            <a:off x="914400" y="2103120"/>
            <a:ext cx="4754880" cy="4023360"/>
          </a:xfrm>
          <a:prstGeom prst="rect">
            <a:avLst/>
          </a:prstGeom>
          <a:noFill/>
        </p:spPr>
        <p:txBody>
          <a:bodyPr wrap="square">
            <a:spAutoFit/>
          </a:bodyPr>
          <a:lstStyle/>
          <a:p>
            <a:pPr>
              <a:spcAft>
                <a:spcPts val="1000"/>
              </a:spcAft>
            </a:pPr>
            <a:r>
              <a:rPr b="1" sz="1300">
                <a:solidFill>
                  <a:srgbClr val="F8FAFC"/>
                </a:solidFill>
              </a:rPr>
              <a:t>• Custom YOLO11n Weights: </a:t>
            </a:r>
            <a:r>
              <a:rPr sz="1200">
                <a:solidFill>
                  <a:srgbClr val="94A3B8"/>
                </a:solidFill>
              </a:rPr>
              <a:t>Powered by crime_x_fire_detector_v2.pt trained specifically for visual fire hazard identification.</a:t>
            </a:r>
          </a:p>
          <a:p>
            <a:pPr>
              <a:spcAft>
                <a:spcPts val="1000"/>
              </a:spcAft>
            </a:pPr>
            <a:r>
              <a:rPr b="1" sz="1300">
                <a:solidFill>
                  <a:srgbClr val="F8FAFC"/>
                </a:solidFill>
              </a:rPr>
              <a:t>• Real-Time Image Inference: </a:t>
            </a:r>
            <a:r>
              <a:rPr sz="1200">
                <a:solidFill>
                  <a:srgbClr val="94A3B8"/>
                </a:solidFill>
              </a:rPr>
              <a:t>Processes uploaded surveillance frames and highlights fire hazards with visual bounding boxes.</a:t>
            </a:r>
          </a:p>
          <a:p>
            <a:pPr>
              <a:spcAft>
                <a:spcPts val="1000"/>
              </a:spcAft>
            </a:pPr>
            <a:r>
              <a:rPr b="1" sz="1300">
                <a:solidFill>
                  <a:srgbClr val="F8FAFC"/>
                </a:solidFill>
              </a:rPr>
              <a:t>• Inference Audit Logging: </a:t>
            </a:r>
            <a:r>
              <a:rPr sz="1200">
                <a:solidFill>
                  <a:srgbClr val="94A3B8"/>
                </a:solidFill>
              </a:rPr>
              <a:t>Saves image dimensions, bounding box coordinates, and confidence scores directly to fire_detections table.</a:t>
            </a:r>
          </a:p>
          <a:p>
            <a:pPr>
              <a:spcAft>
                <a:spcPts val="1000"/>
              </a:spcAft>
            </a:pPr>
            <a:r>
              <a:rPr b="1" sz="1300">
                <a:solidFill>
                  <a:srgbClr val="F8FAFC"/>
                </a:solidFill>
              </a:rPr>
              <a:t>• Situational Awareness: </a:t>
            </a:r>
            <a:r>
              <a:rPr sz="1200">
                <a:solidFill>
                  <a:srgbClr val="94A3B8"/>
                </a:solidFill>
              </a:rPr>
              <a:t>Integrated into the police command center for rapid hazard verification.</a:t>
            </a:r>
          </a:p>
        </p:txBody>
      </p:sp>
      <p:sp>
        <p:nvSpPr>
          <p:cNvPr id="9" name="Rounded Rectangle 8"/>
          <p:cNvSpPr/>
          <p:nvPr/>
        </p:nvSpPr>
        <p:spPr>
          <a:xfrm>
            <a:off x="6248095" y="1554480"/>
            <a:ext cx="5212080" cy="47548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91640"/>
            <a:ext cx="4846320" cy="457200"/>
          </a:xfrm>
          <a:prstGeom prst="rect">
            <a:avLst/>
          </a:prstGeom>
          <a:noFill/>
        </p:spPr>
        <p:txBody>
          <a:bodyPr wrap="square">
            <a:spAutoFit/>
          </a:bodyPr>
          <a:lstStyle/>
          <a:p>
            <a:pPr>
              <a:defRPr sz="1600" b="1">
                <a:solidFill>
                  <a:srgbClr val="38BDF8"/>
                </a:solidFill>
                <a:latin typeface="Calibri"/>
              </a:defRPr>
            </a:pPr>
            <a:r>
              <a:t>Model Scope &amp; Safety Disclaimers</a:t>
            </a:r>
          </a:p>
        </p:txBody>
      </p:sp>
      <p:sp>
        <p:nvSpPr>
          <p:cNvPr id="11" name="TextBox 10"/>
          <p:cNvSpPr txBox="1"/>
          <p:nvPr/>
        </p:nvSpPr>
        <p:spPr>
          <a:xfrm>
            <a:off x="6400800" y="2103120"/>
            <a:ext cx="4846320" cy="4023360"/>
          </a:xfrm>
          <a:prstGeom prst="rect">
            <a:avLst/>
          </a:prstGeom>
          <a:noFill/>
        </p:spPr>
        <p:txBody>
          <a:bodyPr wrap="square">
            <a:spAutoFit/>
          </a:bodyPr>
          <a:lstStyle/>
          <a:p>
            <a:pPr>
              <a:spcAft>
                <a:spcPts val="1000"/>
              </a:spcAft>
            </a:pPr>
            <a:r>
              <a:rPr b="1" sz="1300">
                <a:solidFill>
                  <a:srgbClr val="F8FAFC"/>
                </a:solidFill>
              </a:rPr>
              <a:t>• Fire-Only Annotation Scope: </a:t>
            </a:r>
            <a:r>
              <a:rPr sz="1200">
                <a:solidFill>
                  <a:srgbClr val="94A3B8"/>
                </a:solidFill>
              </a:rPr>
              <a:t>Trained strictly on visual fire annotations; does NOT detect smoke or chemical fumes.</a:t>
            </a:r>
          </a:p>
          <a:p>
            <a:pPr>
              <a:spcAft>
                <a:spcPts val="1000"/>
              </a:spcAft>
            </a:pPr>
            <a:r>
              <a:rPr b="1" sz="1300">
                <a:solidFill>
                  <a:srgbClr val="F8FAFC"/>
                </a:solidFill>
              </a:rPr>
              <a:t>• Academic Prototype Standard: </a:t>
            </a:r>
            <a:r>
              <a:rPr sz="1200">
                <a:solidFill>
                  <a:srgbClr val="94A3B8"/>
                </a:solidFill>
              </a:rPr>
              <a:t>Designated as an experimental computer-vision prototype for situational awareness.</a:t>
            </a:r>
          </a:p>
          <a:p>
            <a:pPr>
              <a:spcAft>
                <a:spcPts val="1000"/>
              </a:spcAft>
            </a:pPr>
            <a:r>
              <a:rPr b="1" sz="1300">
                <a:solidFill>
                  <a:srgbClr val="F8FAFC"/>
                </a:solidFill>
              </a:rPr>
              <a:t>• Non-Certified Safety Equipment: </a:t>
            </a:r>
            <a:r>
              <a:rPr sz="1200">
                <a:solidFill>
                  <a:srgbClr val="94A3B8"/>
                </a:solidFill>
              </a:rPr>
              <a:t>Explicitly marked in UI: NOT a certified life-safety fire protection or alarm system.</a:t>
            </a:r>
          </a:p>
          <a:p>
            <a:pPr>
              <a:spcAft>
                <a:spcPts val="1000"/>
              </a:spcAft>
            </a:pPr>
            <a:r>
              <a:rPr b="1" sz="1300">
                <a:solidFill>
                  <a:srgbClr val="F8FAFC"/>
                </a:solidFill>
              </a:rPr>
              <a:t>• Human-in-the-Loop Triage: </a:t>
            </a:r>
            <a:r>
              <a:rPr sz="1200">
                <a:solidFill>
                  <a:srgbClr val="94A3B8"/>
                </a:solidFill>
              </a:rPr>
              <a:t>Requires officer verification before dispatching emergency fire response teams.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Modules 7 &amp; 8: Case Management &amp; Operational Alert Triage</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754880" cy="457200"/>
          </a:xfrm>
          <a:prstGeom prst="rect">
            <a:avLst/>
          </a:prstGeom>
          <a:noFill/>
        </p:spPr>
        <p:txBody>
          <a:bodyPr wrap="square">
            <a:spAutoFit/>
          </a:bodyPr>
          <a:lstStyle/>
          <a:p>
            <a:pPr>
              <a:defRPr sz="1600" b="1">
                <a:solidFill>
                  <a:srgbClr val="38BDF8"/>
                </a:solidFill>
                <a:latin typeface="Calibri"/>
              </a:defRPr>
            </a:pPr>
            <a:r>
              <a:t>7. Cases &amp; Investigation Lifecycle</a:t>
            </a:r>
          </a:p>
        </p:txBody>
      </p:sp>
      <p:sp>
        <p:nvSpPr>
          <p:cNvPr id="8" name="TextBox 7"/>
          <p:cNvSpPr txBox="1"/>
          <p:nvPr/>
        </p:nvSpPr>
        <p:spPr>
          <a:xfrm>
            <a:off x="914400" y="2103120"/>
            <a:ext cx="4754880" cy="4023360"/>
          </a:xfrm>
          <a:prstGeom prst="rect">
            <a:avLst/>
          </a:prstGeom>
          <a:noFill/>
        </p:spPr>
        <p:txBody>
          <a:bodyPr wrap="square">
            <a:spAutoFit/>
          </a:bodyPr>
          <a:lstStyle/>
          <a:p>
            <a:pPr>
              <a:spcAft>
                <a:spcPts val="1000"/>
              </a:spcAft>
            </a:pPr>
            <a:r>
              <a:rPr b="1" sz="1300">
                <a:solidFill>
                  <a:srgbClr val="F8FAFC"/>
                </a:solidFill>
              </a:rPr>
              <a:t>• Full Case CRUD: </a:t>
            </a:r>
            <a:r>
              <a:rPr sz="1200">
                <a:solidFill>
                  <a:srgbClr val="94A3B8"/>
                </a:solidFill>
              </a:rPr>
              <a:t>Create, view, update status (OPEN, INVESTIGATING, CLOSED), assign investigating officers, and delete cases.</a:t>
            </a:r>
          </a:p>
          <a:p>
            <a:pPr>
              <a:spcAft>
                <a:spcPts val="1000"/>
              </a:spcAft>
            </a:pPr>
            <a:r>
              <a:rPr b="1" sz="1300">
                <a:solidFill>
                  <a:srgbClr val="F8FAFC"/>
                </a:solidFill>
              </a:rPr>
              <a:t>• Evidence Tracking Engine: </a:t>
            </a:r>
            <a:r>
              <a:rPr sz="1200">
                <a:solidFill>
                  <a:srgbClr val="94A3B8"/>
                </a:solidFill>
              </a:rPr>
              <a:t>Attaches digital and physical evidence records directly to investigation IDs.</a:t>
            </a:r>
          </a:p>
          <a:p>
            <a:pPr>
              <a:spcAft>
                <a:spcPts val="1000"/>
              </a:spcAft>
            </a:pPr>
            <a:r>
              <a:rPr b="1" sz="1300">
                <a:solidFill>
                  <a:srgbClr val="F8FAFC"/>
                </a:solidFill>
              </a:rPr>
              <a:t>• Timeline Event Audit Trail: </a:t>
            </a:r>
            <a:r>
              <a:rPr sz="1200">
                <a:solidFill>
                  <a:srgbClr val="94A3B8"/>
                </a:solidFill>
              </a:rPr>
              <a:t>Logs chronological investigation milestones and officer updates (investigation_events table).</a:t>
            </a:r>
          </a:p>
          <a:p>
            <a:pPr>
              <a:spcAft>
                <a:spcPts val="1000"/>
              </a:spcAft>
            </a:pPr>
            <a:r>
              <a:rPr b="1" sz="1300">
                <a:solidFill>
                  <a:srgbClr val="F8FAFC"/>
                </a:solidFill>
              </a:rPr>
              <a:t>• Priority Triage: </a:t>
            </a:r>
            <a:r>
              <a:rPr sz="1200">
                <a:solidFill>
                  <a:srgbClr val="94A3B8"/>
                </a:solidFill>
              </a:rPr>
              <a:t>Categorizes cases by priority levels (LOW, MEDIUM, HIGH, CRITICAL).</a:t>
            </a:r>
          </a:p>
        </p:txBody>
      </p:sp>
      <p:sp>
        <p:nvSpPr>
          <p:cNvPr id="9" name="Rounded Rectangle 8"/>
          <p:cNvSpPr/>
          <p:nvPr/>
        </p:nvSpPr>
        <p:spPr>
          <a:xfrm>
            <a:off x="6248095" y="1554480"/>
            <a:ext cx="5212080" cy="47548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91640"/>
            <a:ext cx="4846320" cy="457200"/>
          </a:xfrm>
          <a:prstGeom prst="rect">
            <a:avLst/>
          </a:prstGeom>
          <a:noFill/>
        </p:spPr>
        <p:txBody>
          <a:bodyPr wrap="square">
            <a:spAutoFit/>
          </a:bodyPr>
          <a:lstStyle/>
          <a:p>
            <a:pPr>
              <a:defRPr sz="1600" b="1">
                <a:solidFill>
                  <a:srgbClr val="38BDF8"/>
                </a:solidFill>
                <a:latin typeface="Calibri"/>
              </a:defRPr>
            </a:pPr>
            <a:r>
              <a:t>8. Operational Alert Dispatch Triage</a:t>
            </a:r>
          </a:p>
        </p:txBody>
      </p:sp>
      <p:sp>
        <p:nvSpPr>
          <p:cNvPr id="11" name="TextBox 10"/>
          <p:cNvSpPr txBox="1"/>
          <p:nvPr/>
        </p:nvSpPr>
        <p:spPr>
          <a:xfrm>
            <a:off x="6400800" y="2103120"/>
            <a:ext cx="4846320" cy="4023360"/>
          </a:xfrm>
          <a:prstGeom prst="rect">
            <a:avLst/>
          </a:prstGeom>
          <a:noFill/>
        </p:spPr>
        <p:txBody>
          <a:bodyPr wrap="square">
            <a:spAutoFit/>
          </a:bodyPr>
          <a:lstStyle/>
          <a:p>
            <a:pPr>
              <a:spcAft>
                <a:spcPts val="1000"/>
              </a:spcAft>
            </a:pPr>
            <a:r>
              <a:rPr b="1" sz="1300">
                <a:solidFill>
                  <a:srgbClr val="F8FAFC"/>
                </a:solidFill>
              </a:rPr>
              <a:t>• 4 Severity Triage Levels: </a:t>
            </a:r>
            <a:r>
              <a:rPr sz="1200">
                <a:solidFill>
                  <a:srgbClr val="94A3B8"/>
                </a:solidFill>
              </a:rPr>
              <a:t>Supports INFO, WARNING, HIGH, and CRITICAL emergency dispatch notifications.</a:t>
            </a:r>
          </a:p>
          <a:p>
            <a:pPr>
              <a:spcAft>
                <a:spcPts val="1000"/>
              </a:spcAft>
            </a:pPr>
            <a:r>
              <a:rPr b="1" sz="1300">
                <a:solidFill>
                  <a:srgbClr val="F8FAFC"/>
                </a:solidFill>
              </a:rPr>
              <a:t>• Resolution Lifecycle: </a:t>
            </a:r>
            <a:r>
              <a:rPr sz="1200">
                <a:solidFill>
                  <a:srgbClr val="94A3B8"/>
                </a:solidFill>
              </a:rPr>
              <a:t>Tracks alert status transitions (UNREAD → READ → RESOLVED) with timestamp tracking.</a:t>
            </a:r>
          </a:p>
          <a:p>
            <a:pPr>
              <a:spcAft>
                <a:spcPts val="1000"/>
              </a:spcAft>
            </a:pPr>
            <a:r>
              <a:rPr b="1" sz="1300">
                <a:solidFill>
                  <a:srgbClr val="F8FAFC"/>
                </a:solidFill>
              </a:rPr>
              <a:t>• Cross-Module Integration: </a:t>
            </a:r>
            <a:r>
              <a:rPr sz="1200">
                <a:solidFill>
                  <a:srgbClr val="94A3B8"/>
                </a:solidFill>
              </a:rPr>
              <a:t>Links alerts to active investigations or spatial crime hotspots.</a:t>
            </a:r>
          </a:p>
          <a:p>
            <a:pPr>
              <a:spcAft>
                <a:spcPts val="1000"/>
              </a:spcAft>
            </a:pPr>
            <a:r>
              <a:rPr b="1" sz="1300">
                <a:solidFill>
                  <a:srgbClr val="F8FAFC"/>
                </a:solidFill>
              </a:rPr>
              <a:t>• Command Dashboard Ticker: </a:t>
            </a:r>
            <a:r>
              <a:rPr sz="1200">
                <a:solidFill>
                  <a:srgbClr val="94A3B8"/>
                </a:solidFill>
              </a:rPr>
              <a:t>Automatically feeds active critical alerts into the central command bar.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Module 9: Bounded AI Intelligence Assistant (English &amp; Hinglish)</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754880" cy="457200"/>
          </a:xfrm>
          <a:prstGeom prst="rect">
            <a:avLst/>
          </a:prstGeom>
          <a:noFill/>
        </p:spPr>
        <p:txBody>
          <a:bodyPr wrap="square">
            <a:spAutoFit/>
          </a:bodyPr>
          <a:lstStyle/>
          <a:p>
            <a:pPr>
              <a:defRPr sz="1600" b="1">
                <a:solidFill>
                  <a:srgbClr val="38BDF8"/>
                </a:solidFill>
                <a:latin typeface="Calibri"/>
              </a:defRPr>
            </a:pPr>
            <a:r>
              <a:t>Deterministic Bounded AI Architecture</a:t>
            </a:r>
          </a:p>
        </p:txBody>
      </p:sp>
      <p:sp>
        <p:nvSpPr>
          <p:cNvPr id="8" name="TextBox 7"/>
          <p:cNvSpPr txBox="1"/>
          <p:nvPr/>
        </p:nvSpPr>
        <p:spPr>
          <a:xfrm>
            <a:off x="914400" y="2103120"/>
            <a:ext cx="4754880" cy="4023360"/>
          </a:xfrm>
          <a:prstGeom prst="rect">
            <a:avLst/>
          </a:prstGeom>
          <a:noFill/>
        </p:spPr>
        <p:txBody>
          <a:bodyPr wrap="square">
            <a:spAutoFit/>
          </a:bodyPr>
          <a:lstStyle/>
          <a:p>
            <a:pPr>
              <a:spcAft>
                <a:spcPts val="1000"/>
              </a:spcAft>
            </a:pPr>
            <a:r>
              <a:rPr b="1" sz="1300">
                <a:solidFill>
                  <a:srgbClr val="F8FAFC"/>
                </a:solidFill>
              </a:rPr>
              <a:t>• Grounded Query Routing: </a:t>
            </a:r>
            <a:r>
              <a:rPr sz="1200">
                <a:solidFill>
                  <a:srgbClr val="94A3B8"/>
                </a:solidFill>
              </a:rPr>
              <a:t>src/services/ai_service.py evaluates natural language inputs against direct database queries.</a:t>
            </a:r>
          </a:p>
          <a:p>
            <a:pPr>
              <a:spcAft>
                <a:spcPts val="1000"/>
              </a:spcAft>
            </a:pPr>
            <a:r>
              <a:rPr b="1" sz="1300">
                <a:solidFill>
                  <a:srgbClr val="F8FAFC"/>
                </a:solidFill>
              </a:rPr>
              <a:t>• Zero-Hallucination Safety: </a:t>
            </a:r>
            <a:r>
              <a:rPr sz="1200">
                <a:solidFill>
                  <a:srgbClr val="94A3B8"/>
                </a:solidFill>
              </a:rPr>
              <a:t>Queries are resolved strictly against SQLite, NCRB tables, GIS maps, and case records.</a:t>
            </a:r>
          </a:p>
          <a:p>
            <a:pPr>
              <a:spcAft>
                <a:spcPts val="1000"/>
              </a:spcAft>
            </a:pPr>
            <a:r>
              <a:rPr b="1" sz="1300">
                <a:solidFill>
                  <a:srgbClr val="F8FAFC"/>
                </a:solidFill>
              </a:rPr>
              <a:t>• Transparent Absent Notice: </a:t>
            </a:r>
            <a:r>
              <a:rPr sz="1200">
                <a:solidFill>
                  <a:srgbClr val="94A3B8"/>
                </a:solidFill>
              </a:rPr>
              <a:t>For unsupported or ungrounded queries, returns: 'Data is not available in the current CRIME X database.'</a:t>
            </a:r>
          </a:p>
          <a:p>
            <a:pPr>
              <a:spcAft>
                <a:spcPts val="1000"/>
              </a:spcAft>
            </a:pPr>
            <a:r>
              <a:rPr b="1" sz="1300">
                <a:solidFill>
                  <a:srgbClr val="F8FAFC"/>
                </a:solidFill>
              </a:rPr>
              <a:t>• Auditable SQL Resolution: </a:t>
            </a:r>
            <a:r>
              <a:rPr sz="1200">
                <a:solidFill>
                  <a:srgbClr val="94A3B8"/>
                </a:solidFill>
              </a:rPr>
              <a:t>Eliminates unsafe generative AI hallucinations in law enforcement decision contexts.</a:t>
            </a:r>
          </a:p>
        </p:txBody>
      </p:sp>
      <p:sp>
        <p:nvSpPr>
          <p:cNvPr id="9" name="Rounded Rectangle 8"/>
          <p:cNvSpPr/>
          <p:nvPr/>
        </p:nvSpPr>
        <p:spPr>
          <a:xfrm>
            <a:off x="6248095" y="1554480"/>
            <a:ext cx="521208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91640"/>
            <a:ext cx="4846320" cy="457200"/>
          </a:xfrm>
          <a:prstGeom prst="rect">
            <a:avLst/>
          </a:prstGeom>
          <a:noFill/>
        </p:spPr>
        <p:txBody>
          <a:bodyPr wrap="square">
            <a:spAutoFit/>
          </a:bodyPr>
          <a:lstStyle/>
          <a:p>
            <a:pPr>
              <a:defRPr sz="1600" b="1">
                <a:solidFill>
                  <a:srgbClr val="38BDF8"/>
                </a:solidFill>
                <a:latin typeface="Calibri"/>
              </a:defRPr>
            </a:pPr>
            <a:r>
              <a:t>Bilingual &amp; Hinglish Inquiry Examples</a:t>
            </a:r>
          </a:p>
        </p:txBody>
      </p:sp>
      <p:sp>
        <p:nvSpPr>
          <p:cNvPr id="11" name="TextBox 10"/>
          <p:cNvSpPr txBox="1"/>
          <p:nvPr/>
        </p:nvSpPr>
        <p:spPr>
          <a:xfrm>
            <a:off x="6400800" y="2103120"/>
            <a:ext cx="4846320" cy="4023360"/>
          </a:xfrm>
          <a:prstGeom prst="rect">
            <a:avLst/>
          </a:prstGeom>
          <a:noFill/>
        </p:spPr>
        <p:txBody>
          <a:bodyPr wrap="square">
            <a:spAutoFit/>
          </a:bodyPr>
          <a:lstStyle/>
          <a:p>
            <a:pPr>
              <a:spcAft>
                <a:spcPts val="800"/>
              </a:spcAft>
            </a:pPr>
            <a:r>
              <a:rPr b="1" sz="1200">
                <a:solidFill>
                  <a:srgbClr val="F59E0B"/>
                </a:solidFill>
              </a:rPr>
              <a:t>• English Query: </a:t>
            </a:r>
            <a:r>
              <a:rPr sz="1100">
                <a:solidFill>
                  <a:srgbClr val="F8FAFC"/>
                </a:solidFill>
              </a:rPr>
              <a:t>"Which state has the highest total crime count?"
   └── Evaluates state totals directly from crime_records table.</a:t>
            </a:r>
          </a:p>
          <a:p>
            <a:pPr>
              <a:spcAft>
                <a:spcPts val="800"/>
              </a:spcAft>
            </a:pPr>
            <a:r>
              <a:rPr b="1" sz="1200">
                <a:solidFill>
                  <a:srgbClr val="F59E0B"/>
                </a:solidFill>
              </a:rPr>
              <a:t>• Hinglish Query: </a:t>
            </a:r>
            <a:r>
              <a:rPr sz="1100">
                <a:solidFill>
                  <a:srgbClr val="F8FAFC"/>
                </a:solidFill>
              </a:rPr>
              <a:t>"India me sabse zyada crime kis state me hai?"
   └── Normalizes Hinglish keywords to execute identical grounded query.</a:t>
            </a:r>
          </a:p>
          <a:p>
            <a:pPr>
              <a:spcAft>
                <a:spcPts val="800"/>
              </a:spcAft>
            </a:pPr>
            <a:r>
              <a:rPr b="1" sz="1200">
                <a:solidFill>
                  <a:srgbClr val="F59E0B"/>
                </a:solidFill>
              </a:rPr>
              <a:t>• Cybercrime Query: </a:t>
            </a:r>
            <a:r>
              <a:rPr sz="1100">
                <a:solidFill>
                  <a:srgbClr val="F8FAFC"/>
                </a:solidFill>
              </a:rPr>
              <a:t>"Cyber fraud kaunsa highest hai?"
   └── Aggregates IT Act cybercrime metrics for top offences.</a:t>
            </a:r>
          </a:p>
          <a:p>
            <a:pPr>
              <a:spcAft>
                <a:spcPts val="800"/>
              </a:spcAft>
            </a:pPr>
            <a:r>
              <a:rPr b="1" sz="1200">
                <a:solidFill>
                  <a:srgbClr val="F59E0B"/>
                </a:solidFill>
              </a:rPr>
              <a:t>• Case Status Query: </a:t>
            </a:r>
            <a:r>
              <a:rPr sz="1100">
                <a:solidFill>
                  <a:srgbClr val="F8FAFC"/>
                </a:solidFill>
              </a:rPr>
              <a:t>"Kitne investigation open hain?"
   └── Counts active cases where status = 'OPEN'.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Database Architecture &amp; Relational Schema</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1097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45920"/>
            <a:ext cx="4846320" cy="914400"/>
          </a:xfrm>
          <a:prstGeom prst="rect">
            <a:avLst/>
          </a:prstGeom>
          <a:noFill/>
        </p:spPr>
        <p:txBody>
          <a:bodyPr wrap="square">
            <a:spAutoFit/>
          </a:bodyPr>
          <a:lstStyle/>
          <a:p>
            <a:pPr>
              <a:defRPr sz="1300" b="1">
                <a:solidFill>
                  <a:srgbClr val="38BDF8"/>
                </a:solidFill>
              </a:defRPr>
            </a:pPr>
            <a:r>
              <a:t>Table: states &amp; districts</a:t>
            </a:r>
          </a:p>
          <a:p>
            <a:pPr>
              <a:spcBef>
                <a:spcPts val="200"/>
              </a:spcBef>
              <a:defRPr sz="1100">
                <a:solidFill>
                  <a:srgbClr val="F8FAFC"/>
                </a:solidFill>
              </a:defRPr>
            </a:pPr>
            <a:r>
              <a:t>Hierarchical administrative mapping with unique state-district composite constraints.</a:t>
            </a:r>
          </a:p>
        </p:txBody>
      </p:sp>
      <p:sp>
        <p:nvSpPr>
          <p:cNvPr id="8" name="Rounded Rectangle 7"/>
          <p:cNvSpPr/>
          <p:nvPr/>
        </p:nvSpPr>
        <p:spPr>
          <a:xfrm>
            <a:off x="6248095" y="1554480"/>
            <a:ext cx="5120640" cy="1097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5255" y="1645920"/>
            <a:ext cx="4846320" cy="914400"/>
          </a:xfrm>
          <a:prstGeom prst="rect">
            <a:avLst/>
          </a:prstGeom>
          <a:noFill/>
        </p:spPr>
        <p:txBody>
          <a:bodyPr wrap="square">
            <a:spAutoFit/>
          </a:bodyPr>
          <a:lstStyle/>
          <a:p>
            <a:pPr>
              <a:defRPr sz="1300" b="1">
                <a:solidFill>
                  <a:srgbClr val="38BDF8"/>
                </a:solidFill>
              </a:defRPr>
            </a:pPr>
            <a:r>
              <a:t>Table: crime_records</a:t>
            </a:r>
          </a:p>
          <a:p>
            <a:pPr>
              <a:spcBef>
                <a:spcPts val="200"/>
              </a:spcBef>
              <a:defRPr sz="1100">
                <a:solidFill>
                  <a:srgbClr val="F8FAFC"/>
                </a:solidFill>
              </a:defRPr>
            </a:pPr>
            <a:r>
              <a:t>Physical IPC crime statistics with source dataset provenance and composite indexes.</a:t>
            </a:r>
          </a:p>
        </p:txBody>
      </p:sp>
      <p:sp>
        <p:nvSpPr>
          <p:cNvPr id="10" name="Rounded Rectangle 9"/>
          <p:cNvSpPr/>
          <p:nvPr/>
        </p:nvSpPr>
        <p:spPr>
          <a:xfrm>
            <a:off x="731520" y="2788920"/>
            <a:ext cx="5120640" cy="1097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80360"/>
            <a:ext cx="4846320" cy="914400"/>
          </a:xfrm>
          <a:prstGeom prst="rect">
            <a:avLst/>
          </a:prstGeom>
          <a:noFill/>
        </p:spPr>
        <p:txBody>
          <a:bodyPr wrap="square">
            <a:spAutoFit/>
          </a:bodyPr>
          <a:lstStyle/>
          <a:p>
            <a:pPr>
              <a:defRPr sz="1300" b="1">
                <a:solidFill>
                  <a:srgbClr val="38BDF8"/>
                </a:solidFill>
              </a:defRPr>
            </a:pPr>
            <a:r>
              <a:t>Table: cybercrime_records</a:t>
            </a:r>
          </a:p>
          <a:p>
            <a:pPr>
              <a:spcBef>
                <a:spcPts val="200"/>
              </a:spcBef>
              <a:defRPr sz="1100">
                <a:solidFill>
                  <a:srgbClr val="F8FAFC"/>
                </a:solidFill>
              </a:defRPr>
            </a:pPr>
            <a:r>
              <a:t>IT Act and cyber fraud category metrics indexed by state, district, and year.</a:t>
            </a:r>
          </a:p>
        </p:txBody>
      </p:sp>
      <p:sp>
        <p:nvSpPr>
          <p:cNvPr id="12" name="Rounded Rectangle 11"/>
          <p:cNvSpPr/>
          <p:nvPr/>
        </p:nvSpPr>
        <p:spPr>
          <a:xfrm>
            <a:off x="6248095" y="2788920"/>
            <a:ext cx="5120640" cy="1097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5255" y="2880360"/>
            <a:ext cx="4846320" cy="914400"/>
          </a:xfrm>
          <a:prstGeom prst="rect">
            <a:avLst/>
          </a:prstGeom>
          <a:noFill/>
        </p:spPr>
        <p:txBody>
          <a:bodyPr wrap="square">
            <a:spAutoFit/>
          </a:bodyPr>
          <a:lstStyle/>
          <a:p>
            <a:pPr>
              <a:defRPr sz="1300" b="1">
                <a:solidFill>
                  <a:srgbClr val="38BDF8"/>
                </a:solidFill>
              </a:defRPr>
            </a:pPr>
            <a:r>
              <a:t>Table: crime_predictions</a:t>
            </a:r>
          </a:p>
          <a:p>
            <a:pPr>
              <a:spcBef>
                <a:spcPts val="200"/>
              </a:spcBef>
              <a:defRPr sz="1100">
                <a:solidFill>
                  <a:srgbClr val="F8FAFC"/>
                </a:solidFill>
              </a:defRPr>
            </a:pPr>
            <a:r>
              <a:t>Persisted prediction logs, input feature snapshots, and academic disclaimers.</a:t>
            </a:r>
          </a:p>
        </p:txBody>
      </p:sp>
      <p:sp>
        <p:nvSpPr>
          <p:cNvPr id="14" name="Rounded Rectangle 13"/>
          <p:cNvSpPr/>
          <p:nvPr/>
        </p:nvSpPr>
        <p:spPr>
          <a:xfrm>
            <a:off x="731520" y="4023360"/>
            <a:ext cx="5120640" cy="1097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114800"/>
            <a:ext cx="4846320" cy="914400"/>
          </a:xfrm>
          <a:prstGeom prst="rect">
            <a:avLst/>
          </a:prstGeom>
          <a:noFill/>
        </p:spPr>
        <p:txBody>
          <a:bodyPr wrap="square">
            <a:spAutoFit/>
          </a:bodyPr>
          <a:lstStyle/>
          <a:p>
            <a:pPr>
              <a:defRPr sz="1300" b="1">
                <a:solidFill>
                  <a:srgbClr val="38BDF8"/>
                </a:solidFill>
              </a:defRPr>
            </a:pPr>
            <a:r>
              <a:t>Table: fire_detections</a:t>
            </a:r>
          </a:p>
          <a:p>
            <a:pPr>
              <a:spcBef>
                <a:spcPts val="200"/>
              </a:spcBef>
              <a:defRPr sz="1100">
                <a:solidFill>
                  <a:srgbClr val="F8FAFC"/>
                </a:solidFill>
              </a:defRPr>
            </a:pPr>
            <a:r>
              <a:t>Image inference audit logs, bounding boxes, width/height, and confidence scores.</a:t>
            </a:r>
          </a:p>
        </p:txBody>
      </p:sp>
      <p:sp>
        <p:nvSpPr>
          <p:cNvPr id="16" name="Rounded Rectangle 15"/>
          <p:cNvSpPr/>
          <p:nvPr/>
        </p:nvSpPr>
        <p:spPr>
          <a:xfrm>
            <a:off x="6248095" y="4023360"/>
            <a:ext cx="5120640" cy="1097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5255" y="4114800"/>
            <a:ext cx="4846320" cy="914400"/>
          </a:xfrm>
          <a:prstGeom prst="rect">
            <a:avLst/>
          </a:prstGeom>
          <a:noFill/>
        </p:spPr>
        <p:txBody>
          <a:bodyPr wrap="square">
            <a:spAutoFit/>
          </a:bodyPr>
          <a:lstStyle/>
          <a:p>
            <a:pPr>
              <a:defRPr sz="1300" b="1">
                <a:solidFill>
                  <a:srgbClr val="38BDF8"/>
                </a:solidFill>
              </a:defRPr>
            </a:pPr>
            <a:r>
              <a:t>Table: investigations &amp; evidence</a:t>
            </a:r>
          </a:p>
          <a:p>
            <a:pPr>
              <a:spcBef>
                <a:spcPts val="200"/>
              </a:spcBef>
              <a:defRPr sz="1100">
                <a:solidFill>
                  <a:srgbClr val="F8FAFC"/>
                </a:solidFill>
              </a:defRPr>
            </a:pPr>
            <a:r>
              <a:t>Case lifecycle management, assigned officer, timeline events, and evidence logs.</a:t>
            </a:r>
          </a:p>
        </p:txBody>
      </p:sp>
      <p:sp>
        <p:nvSpPr>
          <p:cNvPr id="18" name="Rounded Rectangle 17"/>
          <p:cNvSpPr/>
          <p:nvPr/>
        </p:nvSpPr>
        <p:spPr>
          <a:xfrm>
            <a:off x="731520" y="5257800"/>
            <a:ext cx="5120640" cy="1097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349240"/>
            <a:ext cx="4846320" cy="914400"/>
          </a:xfrm>
          <a:prstGeom prst="rect">
            <a:avLst/>
          </a:prstGeom>
          <a:noFill/>
        </p:spPr>
        <p:txBody>
          <a:bodyPr wrap="square">
            <a:spAutoFit/>
          </a:bodyPr>
          <a:lstStyle/>
          <a:p>
            <a:pPr>
              <a:defRPr sz="1300" b="1">
                <a:solidFill>
                  <a:srgbClr val="38BDF8"/>
                </a:solidFill>
              </a:defRPr>
            </a:pPr>
            <a:r>
              <a:t>Table: alerts</a:t>
            </a:r>
          </a:p>
          <a:p>
            <a:pPr>
              <a:spcBef>
                <a:spcPts val="200"/>
              </a:spcBef>
              <a:defRPr sz="1100">
                <a:solidFill>
                  <a:srgbClr val="F8FAFC"/>
                </a:solidFill>
              </a:defRPr>
            </a:pPr>
            <a:r>
              <a:t>Operational emergency dispatch records with severity triage and resolution lifecycle.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Software Engineering, Automated Testing &amp; Settings Diagnostics</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754880" cy="457200"/>
          </a:xfrm>
          <a:prstGeom prst="rect">
            <a:avLst/>
          </a:prstGeom>
          <a:noFill/>
        </p:spPr>
        <p:txBody>
          <a:bodyPr wrap="square">
            <a:spAutoFit/>
          </a:bodyPr>
          <a:lstStyle/>
          <a:p>
            <a:pPr>
              <a:defRPr sz="1600" b="1">
                <a:solidFill>
                  <a:srgbClr val="38BDF8"/>
                </a:solidFill>
                <a:latin typeface="Calibri"/>
              </a:defRPr>
            </a:pPr>
            <a:r>
              <a:t>Pytest Automated Test Suite</a:t>
            </a:r>
          </a:p>
        </p:txBody>
      </p:sp>
      <p:sp>
        <p:nvSpPr>
          <p:cNvPr id="8" name="TextBox 7"/>
          <p:cNvSpPr txBox="1"/>
          <p:nvPr/>
        </p:nvSpPr>
        <p:spPr>
          <a:xfrm>
            <a:off x="914400" y="2103120"/>
            <a:ext cx="4754880" cy="4023360"/>
          </a:xfrm>
          <a:prstGeom prst="rect">
            <a:avLst/>
          </a:prstGeom>
          <a:noFill/>
        </p:spPr>
        <p:txBody>
          <a:bodyPr wrap="square">
            <a:spAutoFit/>
          </a:bodyPr>
          <a:lstStyle/>
          <a:p>
            <a:pPr>
              <a:spcAft>
                <a:spcPts val="1000"/>
              </a:spcAft>
            </a:pPr>
            <a:r>
              <a:rPr b="1" sz="1300">
                <a:solidFill>
                  <a:srgbClr val="F8FAFC"/>
                </a:solidFill>
              </a:rPr>
              <a:t>• Comprehensive Test Suite: </a:t>
            </a:r>
            <a:r>
              <a:rPr sz="1200">
                <a:solidFill>
                  <a:srgbClr val="94A3B8"/>
                </a:solidFill>
              </a:rPr>
              <a:t>Automated Pytest coverage across data layers, services, GIS pipelines, and ML models.</a:t>
            </a:r>
          </a:p>
          <a:p>
            <a:pPr>
              <a:spcAft>
                <a:spcPts val="1000"/>
              </a:spcAft>
            </a:pPr>
            <a:r>
              <a:rPr b="1" sz="1300">
                <a:solidFill>
                  <a:srgbClr val="F8FAFC"/>
                </a:solidFill>
              </a:rPr>
              <a:t>• GIS Name Normalizer Tests: </a:t>
            </a:r>
            <a:r>
              <a:rPr sz="1200">
                <a:solidFill>
                  <a:srgbClr val="94A3B8"/>
                </a:solidFill>
              </a:rPr>
              <a:t>Verifies 100% state matching and string distance fallback behavior.</a:t>
            </a:r>
          </a:p>
          <a:p>
            <a:pPr>
              <a:spcAft>
                <a:spcPts val="1000"/>
              </a:spcAft>
            </a:pPr>
            <a:r>
              <a:rPr b="1" sz="1300">
                <a:solidFill>
                  <a:srgbClr val="F8FAFC"/>
                </a:solidFill>
              </a:rPr>
              <a:t>• Database Repository Tests: </a:t>
            </a:r>
            <a:r>
              <a:rPr sz="1200">
                <a:solidFill>
                  <a:srgbClr val="94A3B8"/>
                </a:solidFill>
              </a:rPr>
              <a:t>Validates CRUD operations, foreign key integrity, and cascade deletes.</a:t>
            </a:r>
          </a:p>
          <a:p>
            <a:pPr>
              <a:spcAft>
                <a:spcPts val="1000"/>
              </a:spcAft>
            </a:pPr>
            <a:r>
              <a:rPr b="1" sz="1300">
                <a:solidFill>
                  <a:srgbClr val="F8FAFC"/>
                </a:solidFill>
              </a:rPr>
              <a:t>• Service Isolation Tests: </a:t>
            </a:r>
            <a:r>
              <a:rPr sz="1200">
                <a:solidFill>
                  <a:srgbClr val="94A3B8"/>
                </a:solidFill>
              </a:rPr>
              <a:t>Tests CrimeXService methods against test database fixtures.</a:t>
            </a:r>
          </a:p>
        </p:txBody>
      </p:sp>
      <p:sp>
        <p:nvSpPr>
          <p:cNvPr id="9" name="Rounded Rectangle 8"/>
          <p:cNvSpPr/>
          <p:nvPr/>
        </p:nvSpPr>
        <p:spPr>
          <a:xfrm>
            <a:off x="6248095" y="1554480"/>
            <a:ext cx="5212080" cy="475488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91640"/>
            <a:ext cx="4846320" cy="457200"/>
          </a:xfrm>
          <a:prstGeom prst="rect">
            <a:avLst/>
          </a:prstGeom>
          <a:noFill/>
        </p:spPr>
        <p:txBody>
          <a:bodyPr wrap="square">
            <a:spAutoFit/>
          </a:bodyPr>
          <a:lstStyle/>
          <a:p>
            <a:pPr>
              <a:defRPr sz="1600" b="1">
                <a:solidFill>
                  <a:srgbClr val="38BDF8"/>
                </a:solidFill>
                <a:latin typeface="Calibri"/>
              </a:defRPr>
            </a:pPr>
            <a:r>
              <a:t>Module 10: System Settings Diagnostics</a:t>
            </a:r>
          </a:p>
        </p:txBody>
      </p:sp>
      <p:sp>
        <p:nvSpPr>
          <p:cNvPr id="11" name="TextBox 10"/>
          <p:cNvSpPr txBox="1"/>
          <p:nvPr/>
        </p:nvSpPr>
        <p:spPr>
          <a:xfrm>
            <a:off x="6400800" y="2103120"/>
            <a:ext cx="4846320" cy="4023360"/>
          </a:xfrm>
          <a:prstGeom prst="rect">
            <a:avLst/>
          </a:prstGeom>
          <a:noFill/>
        </p:spPr>
        <p:txBody>
          <a:bodyPr wrap="square">
            <a:spAutoFit/>
          </a:bodyPr>
          <a:lstStyle/>
          <a:p>
            <a:pPr>
              <a:spcAft>
                <a:spcPts val="1000"/>
              </a:spcAft>
            </a:pPr>
            <a:r>
              <a:rPr b="1" sz="1300">
                <a:solidFill>
                  <a:srgbClr val="F8FAFC"/>
                </a:solidFill>
              </a:rPr>
              <a:t>• Runtime Health Monitor: </a:t>
            </a:r>
            <a:r>
              <a:rPr sz="1200">
                <a:solidFill>
                  <a:srgbClr val="94A3B8"/>
                </a:solidFill>
              </a:rPr>
              <a:t>Checks SQLite datastore connection and database file size.</a:t>
            </a:r>
          </a:p>
          <a:p>
            <a:pPr>
              <a:spcAft>
                <a:spcPts val="1000"/>
              </a:spcAft>
            </a:pPr>
            <a:r>
              <a:rPr b="1" sz="1300">
                <a:solidFill>
                  <a:srgbClr val="F8FAFC"/>
                </a:solidFill>
              </a:rPr>
              <a:t>• Model Verification: </a:t>
            </a:r>
            <a:r>
              <a:rPr sz="1200">
                <a:solidFill>
                  <a:srgbClr val="94A3B8"/>
                </a:solidFill>
              </a:rPr>
              <a:t>Verifies weight integrity for YOLO11n fire model (crime_x_fire_detector_v2.pt).</a:t>
            </a:r>
          </a:p>
          <a:p>
            <a:pPr>
              <a:spcAft>
                <a:spcPts val="1000"/>
              </a:spcAft>
            </a:pPr>
            <a:r>
              <a:rPr b="1" sz="1300">
                <a:solidFill>
                  <a:srgbClr val="F8FAFC"/>
                </a:solidFill>
              </a:rPr>
              <a:t>• GIS Layer Diagnostics: </a:t>
            </a:r>
            <a:r>
              <a:rPr sz="1200">
                <a:solidFill>
                  <a:srgbClr val="94A3B8"/>
                </a:solidFill>
              </a:rPr>
              <a:t>Surfaces unmatched administrative entries and polygon coverage metrics.</a:t>
            </a:r>
          </a:p>
          <a:p>
            <a:pPr>
              <a:spcAft>
                <a:spcPts val="1000"/>
              </a:spcAft>
            </a:pPr>
            <a:r>
              <a:rPr b="1" sz="1300">
                <a:solidFill>
                  <a:srgbClr val="F8FAFC"/>
                </a:solidFill>
              </a:rPr>
              <a:t>• Environment Configuration: </a:t>
            </a:r>
            <a:r>
              <a:rPr sz="1200">
                <a:solidFill>
                  <a:srgbClr val="94A3B8"/>
                </a:solidFill>
              </a:rPr>
              <a:t>Validates Python dependencies and system paths.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Calibri"/>
              </a:defRPr>
            </a:pPr>
            <a:r>
              <a:t>CRIME X | POLICE INTELLIGENCE &amp; ANALYTICS SYSTEM</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Calibri"/>
              </a:defRPr>
            </a:pPr>
            <a:r>
              <a:t>Future Enhancements &amp; Conclusion</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754880" cy="457200"/>
          </a:xfrm>
          <a:prstGeom prst="rect">
            <a:avLst/>
          </a:prstGeom>
          <a:noFill/>
        </p:spPr>
        <p:txBody>
          <a:bodyPr wrap="square">
            <a:spAutoFit/>
          </a:bodyPr>
          <a:lstStyle/>
          <a:p>
            <a:pPr>
              <a:defRPr sz="1600" b="1">
                <a:solidFill>
                  <a:srgbClr val="38BDF8"/>
                </a:solidFill>
                <a:latin typeface="Calibri"/>
              </a:defRPr>
            </a:pPr>
            <a:r>
              <a:t>Future Enhancement Roadmap</a:t>
            </a:r>
          </a:p>
        </p:txBody>
      </p:sp>
      <p:sp>
        <p:nvSpPr>
          <p:cNvPr id="8" name="TextBox 7"/>
          <p:cNvSpPr txBox="1"/>
          <p:nvPr/>
        </p:nvSpPr>
        <p:spPr>
          <a:xfrm>
            <a:off x="914400" y="2103120"/>
            <a:ext cx="4754880" cy="4023360"/>
          </a:xfrm>
          <a:prstGeom prst="rect">
            <a:avLst/>
          </a:prstGeom>
          <a:noFill/>
        </p:spPr>
        <p:txBody>
          <a:bodyPr wrap="square">
            <a:spAutoFit/>
          </a:bodyPr>
          <a:lstStyle/>
          <a:p>
            <a:pPr>
              <a:spcAft>
                <a:spcPts val="1000"/>
              </a:spcAft>
            </a:pPr>
            <a:r>
              <a:rPr b="1" sz="1300">
                <a:solidFill>
                  <a:srgbClr val="F8FAFC"/>
                </a:solidFill>
              </a:rPr>
              <a:t>• CCTNS API Integration: </a:t>
            </a:r>
            <a:r>
              <a:rPr sz="1200">
                <a:solidFill>
                  <a:srgbClr val="94A3B8"/>
                </a:solidFill>
              </a:rPr>
              <a:t>Connect directly with India's Crime and Criminal Tracking Network &amp; Systems for live feed updates.</a:t>
            </a:r>
          </a:p>
          <a:p>
            <a:pPr>
              <a:spcAft>
                <a:spcPts val="1000"/>
              </a:spcAft>
            </a:pPr>
            <a:r>
              <a:rPr b="1" sz="1300">
                <a:solidFill>
                  <a:srgbClr val="F8FAFC"/>
                </a:solidFill>
              </a:rPr>
              <a:t>• Advanced Time-Series Forecasting: </a:t>
            </a:r>
            <a:r>
              <a:rPr sz="1200">
                <a:solidFill>
                  <a:srgbClr val="94A3B8"/>
                </a:solidFill>
              </a:rPr>
              <a:t>Upgrade baseline Ridge ML to DeepAR or Prophet for complex temporal crime trends.</a:t>
            </a:r>
          </a:p>
          <a:p>
            <a:pPr>
              <a:spcAft>
                <a:spcPts val="1000"/>
              </a:spcAft>
            </a:pPr>
            <a:r>
              <a:rPr b="1" sz="1300">
                <a:solidFill>
                  <a:srgbClr val="F8FAFC"/>
                </a:solidFill>
              </a:rPr>
              <a:t>• Multi-Camera CCTV Processing: </a:t>
            </a:r>
            <a:r>
              <a:rPr sz="1200">
                <a:solidFill>
                  <a:srgbClr val="94A3B8"/>
                </a:solidFill>
              </a:rPr>
              <a:t>Expand YOLO vision module to process live RTSP surveillance streams across station networks.</a:t>
            </a:r>
          </a:p>
          <a:p>
            <a:pPr>
              <a:spcAft>
                <a:spcPts val="1000"/>
              </a:spcAft>
            </a:pPr>
            <a:r>
              <a:rPr b="1" sz="1300">
                <a:solidFill>
                  <a:srgbClr val="F8FAFC"/>
                </a:solidFill>
              </a:rPr>
              <a:t>• Mobile Officer App: </a:t>
            </a:r>
            <a:r>
              <a:rPr sz="1200">
                <a:solidFill>
                  <a:srgbClr val="94A3B8"/>
                </a:solidFill>
              </a:rPr>
              <a:t>Develop lightweight mobile companion app for field officers to receive critical alert dispatches.</a:t>
            </a:r>
          </a:p>
        </p:txBody>
      </p:sp>
      <p:sp>
        <p:nvSpPr>
          <p:cNvPr id="9" name="Rounded Rectangle 8"/>
          <p:cNvSpPr/>
          <p:nvPr/>
        </p:nvSpPr>
        <p:spPr>
          <a:xfrm>
            <a:off x="6248095" y="1554480"/>
            <a:ext cx="521208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691640"/>
            <a:ext cx="4846320" cy="457200"/>
          </a:xfrm>
          <a:prstGeom prst="rect">
            <a:avLst/>
          </a:prstGeom>
          <a:noFill/>
        </p:spPr>
        <p:txBody>
          <a:bodyPr wrap="square">
            <a:spAutoFit/>
          </a:bodyPr>
          <a:lstStyle/>
          <a:p>
            <a:pPr>
              <a:defRPr sz="1600" b="1">
                <a:solidFill>
                  <a:srgbClr val="38BDF8"/>
                </a:solidFill>
                <a:latin typeface="Calibri"/>
              </a:defRPr>
            </a:pPr>
            <a:r>
              <a:t>Project Summary &amp; Key Takeaways</a:t>
            </a:r>
          </a:p>
        </p:txBody>
      </p:sp>
      <p:sp>
        <p:nvSpPr>
          <p:cNvPr id="11" name="TextBox 10"/>
          <p:cNvSpPr txBox="1"/>
          <p:nvPr/>
        </p:nvSpPr>
        <p:spPr>
          <a:xfrm>
            <a:off x="6400800" y="2103120"/>
            <a:ext cx="4846320" cy="4023360"/>
          </a:xfrm>
          <a:prstGeom prst="rect">
            <a:avLst/>
          </a:prstGeom>
          <a:noFill/>
        </p:spPr>
        <p:txBody>
          <a:bodyPr wrap="square">
            <a:spAutoFit/>
          </a:bodyPr>
          <a:lstStyle/>
          <a:p>
            <a:pPr>
              <a:spcAft>
                <a:spcPts val="1000"/>
              </a:spcAft>
            </a:pPr>
            <a:r>
              <a:rPr b="1" sz="1300">
                <a:solidFill>
                  <a:srgbClr val="F8FAFC"/>
                </a:solidFill>
              </a:rPr>
              <a:t>• Comprehensive 10-Module Platform: </a:t>
            </a:r>
            <a:r>
              <a:rPr sz="1200">
                <a:solidFill>
                  <a:srgbClr val="94A3B8"/>
                </a:solidFill>
              </a:rPr>
              <a:t>Delivers an end-to-end command-center experience for law enforcement analytics.</a:t>
            </a:r>
          </a:p>
          <a:p>
            <a:pPr>
              <a:spcAft>
                <a:spcPts val="1000"/>
              </a:spcAft>
            </a:pPr>
            <a:r>
              <a:rPr b="1" sz="1300">
                <a:solidFill>
                  <a:srgbClr val="F8FAFC"/>
                </a:solidFill>
              </a:rPr>
              <a:t>• Grounded &amp; Authentic Data: </a:t>
            </a:r>
            <a:r>
              <a:rPr sz="1200">
                <a:solidFill>
                  <a:srgbClr val="94A3B8"/>
                </a:solidFill>
              </a:rPr>
              <a:t>100% NCRB 2022 grounded statistics + DataMeet/GADM verified GIS boundaries.</a:t>
            </a:r>
          </a:p>
          <a:p>
            <a:pPr>
              <a:spcAft>
                <a:spcPts val="1000"/>
              </a:spcAft>
            </a:pPr>
            <a:r>
              <a:rPr b="1" sz="1300">
                <a:solidFill>
                  <a:srgbClr val="F8FAFC"/>
                </a:solidFill>
              </a:rPr>
              <a:t>• Multi-Disciplinary AI Integration: </a:t>
            </a:r>
            <a:r>
              <a:rPr sz="1200">
                <a:solidFill>
                  <a:srgbClr val="94A3B8"/>
                </a:solidFill>
              </a:rPr>
              <a:t>Combines ML regression, YOLO vision detection, and deterministic Hinglish AI.</a:t>
            </a:r>
          </a:p>
          <a:p>
            <a:pPr>
              <a:spcAft>
                <a:spcPts val="1000"/>
              </a:spcAft>
            </a:pPr>
            <a:r>
              <a:rPr b="1" sz="1300">
                <a:solidFill>
                  <a:srgbClr val="F8FAFC"/>
                </a:solidFill>
              </a:rPr>
              <a:t>• Academic Rigor &amp; Safety: </a:t>
            </a:r>
            <a:r>
              <a:rPr sz="1200">
                <a:solidFill>
                  <a:srgbClr val="94A3B8"/>
                </a:solidFill>
              </a:rPr>
              <a:t>Enforces strict academic disclaimers, zero-hallucination AI, and zero coordinate fabrication.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